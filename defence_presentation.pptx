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4AF37"/>
                </a:solidFill>
              </a:defRPr>
            </a:pPr>
            <a:r>
              <a:t>UNIVERSITÀ DEGLI STUDI DI VERONA | DEPARTMENT OF ECONOMICS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</a:defRPr>
            </a:pPr>
            <a:r>
              <a:t>Do Machine Learning Models Improve Stock Return Prediction?</a:t>
            </a:r>
          </a:p>
          <a:p>
            <a:pPr>
              <a:spcBef>
                <a:spcPts val="800"/>
              </a:spcBef>
              <a:defRPr sz="1600">
                <a:solidFill>
                  <a:srgbClr val="CBD5E1"/>
                </a:solidFill>
              </a:defRPr>
            </a:pPr>
            <a:r>
              <a:t>Evidence from S&amp;P 500 Constituent Markets and Dimension Sensitivity (2015–2024)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875520" cy="1645920"/>
          </a:xfrm>
          <a:prstGeom prst="roundRect">
            <a:avLst/>
          </a:prstGeom>
          <a:solidFill>
            <a:srgbClr val="172A5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069080"/>
            <a:ext cx="95097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Candidate: Murtuza Yusuf Rangwala (Matricola: VR508566)</a:t>
            </a:r>
          </a:p>
          <a:p>
            <a:pPr>
              <a:spcBef>
                <a:spcPts val="400"/>
              </a:spcBef>
              <a:defRPr sz="1500" b="1">
                <a:solidFill>
                  <a:srgbClr val="D4AF37"/>
                </a:solidFill>
              </a:defRPr>
            </a:pPr>
            <a:r>
              <a:t>Supervisor: Prof. Giuseppina Chesini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Master's Degree in Economics and Data Analysis | Academic Year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 &amp; Core Empirical Contributions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2194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1C30"/>
                </a:solidFill>
              </a:defRPr>
            </a:pPr>
            <a:r>
              <a:t>+0.0348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2043"/>
                </a:solidFill>
              </a:defRPr>
            </a:pPr>
            <a:r>
              <a:t>Daily Rank IC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</a:defRPr>
            </a:pPr>
            <a:r>
              <a:t>Out-of-Sample (vs +0.020 Gu et al.)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1463040"/>
            <a:ext cx="2194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1C30"/>
                </a:solidFill>
              </a:defRPr>
            </a:pPr>
            <a:r>
              <a:t>3.12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2043"/>
                </a:solidFill>
              </a:defRPr>
            </a:pPr>
            <a:r>
              <a:t>Information Ratio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</a:defRPr>
            </a:pPr>
            <a:r>
              <a:t>Annualized ICIR (t = 3.12)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2194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1C30"/>
                </a:solidFill>
              </a:defRPr>
            </a:pPr>
            <a:r>
              <a:t>$6,482.10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2043"/>
                </a:solidFill>
              </a:defRPr>
            </a:pPr>
            <a:r>
              <a:t>Account Compounding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</a:defRPr>
            </a:pPr>
            <a:r>
              <a:t>$1k Deposit (Net 10 bps &amp; 2:1 TPSL)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371600"/>
            <a:ext cx="2468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1463040"/>
            <a:ext cx="21945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51C30"/>
                </a:solidFill>
              </a:defRPr>
            </a:pPr>
            <a:r>
              <a:t>α = -0.18%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2043"/>
                </a:solidFill>
              </a:defRPr>
            </a:pPr>
            <a:r>
              <a:t>Spanned Strategy Alpha</a:t>
            </a:r>
          </a:p>
          <a:p>
            <a:pPr algn="ctr">
              <a:spcBef>
                <a:spcPts val="200"/>
              </a:spcBef>
              <a:defRPr sz="900">
                <a:solidFill>
                  <a:srgbClr val="64748B"/>
                </a:solidFill>
              </a:defRPr>
            </a:pPr>
            <a:r>
              <a:t>p = 0.976 (100% Factor Spanned)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10698480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Core Empirical Takeaways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49039"/>
            <a:ext cx="1033272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1. Predictability &amp; Model Superiority: Deep sequence architectures (PyTorch LSTM &amp; custom TFDMGA) significantly outperform classical linear econometric baselines (Fama-MacBeth OLS, LASSO) and static decision tree ensembles (Random Forest, XGBoost).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2. Statistical Significance: Diebold-Mariano test with Harvey-Leybourne-Newbold corrections confirms TFDMGA outperformance over standard LSTM (DM = 2.41, p = 0.016).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3. Economic Viability under Frictions: Out-of-sample return forecasts survive 10 bps round-trip transaction fees and 1-day execution delays, compounding $1,000 USD to $6,482.10 USD with a 2:1 Take-Profit/Stop-Loss overlay.</a:t>
            </a:r>
          </a:p>
          <a:p>
            <a:pPr>
              <a:spcBef>
                <a:spcPts val="800"/>
              </a:spcBef>
              <a:defRPr sz="1300">
                <a:solidFill>
                  <a:srgbClr val="1E293B"/>
                </a:solidFill>
              </a:defRPr>
            </a:pPr>
            <a:r>
              <a:t>4. Fama-French 5-Factor Spanning &amp; Market Efficiency: Strategy net alpha is statistically zero (alpha = -0.18%, p = 0.976), proving that machine learning models function as dynamic factor allocation engines rather than discoverers of unpriced market arbitrage.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Research Motivation &amp; Academic Literature Gaps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Limitations of Classical Asset 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• Static Linearity Assumption: CAPM (Sharpe 1964), APT (Ross 1976), and Fama-French 5-Factor (2015) assume static linear factor exposures.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Real-World Non-Linearities: Firm characteristics interact nonlinearly across economic regimes (e.g. valuation metrics behave differently during market crashes vs expansions).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The Factor Zoo Controversy: Cochrane (2011) identified 300+ anomaly variables claiming alpha without unified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Methodological Pitfalls &amp; Our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• Multiple Testing Bias: Harvey et al. (2016) show FDR requires t &gt; 3.0. We enforce strict expanding walk-forward splits.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Post-Publication Decay: McLean &amp; Pontiff (2016) document 26-58% anomaly decay. We test zero-lookahead out-of-sample data (2020-2024).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Transaction Cost Drag: Novy-Marx &amp; Velikov (2016) show anomalies decay under fees. We incorporate 10 bps friction and 1-day execution buffer.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Factor Spanning Verification: We test if ML returns are true alpha or systematic factor tilts.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Research Questions &amp; Core Hypotheses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RQ1: Statistical Predictability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7548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Q: Do nonlinear ML models (Random Forest, XGBoost, LSTM, TFDMGA) achieve statistically significant OOS return predictability over linear econometric baselines?</a:t>
            </a:r>
          </a:p>
          <a:p>
            <a:pPr>
              <a:spcBef>
                <a:spcPts val="600"/>
              </a:spcBef>
              <a:defRPr sz="1050" i="1">
                <a:solidFill>
                  <a:srgbClr val="A51C30"/>
                </a:solidFill>
              </a:defRPr>
            </a:pPr>
            <a:r>
              <a:t>H1: Deep sequence models outperform linear baselines by capturing non-linear characteristic interactions and temporal trends.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RQ2: Multimodal Feature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Q: Does integrating technical signals, quarterly accounting ratios, macro state variables, and news sentiment within dynamic gating improve performance?</a:t>
            </a:r>
          </a:p>
          <a:p>
            <a:pPr>
              <a:spcBef>
                <a:spcPts val="600"/>
              </a:spcBef>
              <a:defRPr sz="1050" i="1">
                <a:solidFill>
                  <a:srgbClr val="A51C30"/>
                </a:solidFill>
              </a:defRPr>
            </a:pPr>
            <a:r>
              <a:t>H2: Multimodal fusion allows dynamic attention mechanisms to reweight feature modalities across macroeconomic regimes.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RQ3: Economic Viability &amp; Frictions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26280"/>
            <a:ext cx="47548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Q: Can out-of-sample return forecasts generate profitable trading strategies after accounting for 10 bps fees, execution delays, and stop-loss overlays?</a:t>
            </a:r>
          </a:p>
          <a:p>
            <a:pPr>
              <a:spcBef>
                <a:spcPts val="600"/>
              </a:spcBef>
              <a:defRPr sz="1050" i="1">
                <a:solidFill>
                  <a:srgbClr val="A51C30"/>
                </a:solidFill>
              </a:defRPr>
            </a:pPr>
            <a:r>
              <a:t>H3: Deep sequence models paired with 2:1 TPSL overlays control drawdowns and compound capital under realistic fees.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023360"/>
            <a:ext cx="51206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RQ4: Factor Spanning &amp; Efficiency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75488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Q: Are strategy returns indicative of unpriced market alpha (alpha &gt; 0) or fully spanned by systematic risk factors (alpha = 0) in Fama-French 5-Factor?</a:t>
            </a:r>
          </a:p>
          <a:p>
            <a:pPr>
              <a:spcBef>
                <a:spcPts val="600"/>
              </a:spcBef>
              <a:defRPr sz="1050" i="1">
                <a:solidFill>
                  <a:srgbClr val="A51C30"/>
                </a:solidFill>
              </a:defRPr>
            </a:pPr>
            <a:r>
              <a:t>H4: Strategy returns are spanned by systematic factor risks, proving ML acts as a dynamic factor allocation engine.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Point-in-Time Data Pipeline &amp; 59-Variable Feature Taxonomy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Point-in-Time Bloomberg Filing Date Alignment &amp; Staleness Truncation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Point-in-Time SEC Filing Alignment: Fundamentals update strictly on Bloomberg earnings_announcement_date (t &gt;= Disclosure Date). Prevents lookahead leakage from fiscal end-dates.</a:t>
            </a:r>
            <a:br/>
            <a:r>
              <a:t>• Staleness Truncation Rule: Fundamental fields expire to NaN after 90 trading days (~1 quarter) if un-updated, preventing outdated financial ratios from distorting ranks.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106984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Feature Group Modality Split (53 ML Inputs + 6 Factor Betas = 59 Total)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74720"/>
            <a:ext cx="4937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79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Technical (16 Inputs)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4663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Price momentum (mom_21d, mom_126d), volatility (vol_5d, vol_21d), RSI_14d, MACD, Moving Averages.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4937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611879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Fundamental (30 Inputs)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4663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ROE, ROA, Debt/Assets, Book-to-Market, PE_ratio, Operating Quality, Cash Flow Ratios.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46320"/>
            <a:ext cx="4937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9834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Sentiment (2 Inputs)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257800"/>
            <a:ext cx="4663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Analyst upside consensus, institutional ratings, news/social sentiment scores.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846320"/>
            <a:ext cx="4937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9834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Macro (5 Inputs)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57800"/>
            <a:ext cx="4663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1E293B"/>
                </a:solidFill>
              </a:defRPr>
            </a:pPr>
            <a:r>
              <a:t>VIX index, 10Y Treasury Yields, Yield Curve Slope (10Y-2Y), DXY Dollar Index, Credit Spreads.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5-Fold Expanding Walk-Forward Validation &amp; Model Lineup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58521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5-Fold Expanding-Window Walk-Forward Protocol (2015–2024)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585216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• Fold 1: Train 2015–2018 | Validation 2019 | Test OOS 2020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• Fold 2: Train 2015–2019 | Validation 2020 | Test OOS 2021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• Fold 3: Train 2015–2020 | Validation 2021 | Test OOS 2022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• Fold 4: Train 2015–2021 | Validation 2022 | Test OOS 2023</a:t>
            </a:r>
          </a:p>
          <a:p>
            <a:pPr>
              <a:spcBef>
                <a:spcPts val="600"/>
              </a:spcBef>
              <a:defRPr sz="1150" b="1">
                <a:solidFill>
                  <a:srgbClr val="1E293B"/>
                </a:solidFill>
              </a:defRPr>
            </a:pPr>
            <a:r>
              <a:t>• Fold 5: Train 2015–2022 | Validation 2023 | Test OOS 2024</a:t>
            </a:r>
          </a:p>
          <a:p>
            <a:pPr>
              <a:spcBef>
                <a:spcPts val="600"/>
              </a:spcBef>
              <a:defRPr sz="1150" b="1">
                <a:solidFill>
                  <a:srgbClr val="A51C30"/>
                </a:solidFill>
              </a:defRPr>
            </a:pPr>
            <a:r>
              <a:t>Key Advantage: Eliminates backtest overfitting &amp; data leakage by maintaining strictly chronological training, validation, and testing blocks.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508760"/>
            <a:ext cx="38404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Model Architecture Lineup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828800"/>
            <a:ext cx="38404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• Linear Econometric: Fama-MacBeth 2-Pass OLS + Newey-West HAC errors.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• Regularized Linear: LASSO, Ridge, ElasticNet (alpha = 0.50).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• Non-Linear Trees: Random Forest (M=500, m_try=21 tuned), XGBoost.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• Sequence Models: PyTorch LSTM (T=20 lookback), Custom TFDMGA Network.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Custom Architecture: TFDMGA Network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Causal 1D Dilated TCN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Processes 20-day temporal lookbacks. Dilations d in {1, 2, 4}, K=3, receptive field R = 15 trading days. Zero lookahead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6984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Sequential Directed Ring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Cascade: Tech &lt;- Sent &lt;- Fund &lt;- Macro &lt;- Tech. Captures cross-modal dependencies without O(M^2) combinatorial explosion.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4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3. 3-Way Macro Dynamic Gating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Temperature-scaled softmax trust weights (tau = 0.50) conditioned on macro state vector. Dynamically reweights modalities during market stress.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74920"/>
            <a:ext cx="106984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1208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4. Multi-Task Multi-Head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Simultaneously predicts 1d, 21d, 126d returns. Loss = Smooth L1 Huber + Soft Margin Ranking + Differentiable Pearson IC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Out-of-Sample Predictive Performance (2020–2024 Test Folds)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47026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Feature Panel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ROC AUC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Daily IC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ICIR (t-stat)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LASSO (Logistic L1)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52.14%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0.5216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+0.0314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2.85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Elastic Net (L1 + L2)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52.14%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0.5216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+0.0315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2.85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54.49%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0.5555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+0.0332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3.00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54.02%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0.5580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+0.0247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3.02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PyTorch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56.12%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0.6057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+0.0298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E293B"/>
                          </a:solidFill>
                        </a:defRPr>
                      </a:pPr>
                      <a:r>
                        <a:t>2.85</a:t>
                      </a:r>
                    </a:p>
                  </a:txBody>
                  <a:tcPr/>
                </a:tc>
              </a:tr>
              <a:tr h="470268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TFDMGA (Custom)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Master Panel (53)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56.84%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0.6120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+0.0348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A51C30"/>
                          </a:solidFill>
                        </a:defRPr>
                      </a:pPr>
                      <a:r>
                        <a:t>3.12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8348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Diebold-Mariano Forecast Accuracy Test vs. Baseline LSTM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2043"/>
                </a:solidFill>
              </a:defRPr>
            </a:pPr>
            <a:r>
              <a:t>• DM Test Statistic: DM = 2.41 (p = 0.016 with Harvey-Leybourne-Newbold small-sample correction).</a:t>
            </a:r>
            <a:br/>
            <a:r>
              <a:t>• Conclusion: TFDMGA yields statistically significant predictive gains over standard LSTM networks, confirming the structural advantage of cross-modal ring attention and macro dynamic gating.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Component Ablation Study &amp; SHAP Feature Interpretability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Systematic Component Ablation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A51C30"/>
                </a:solidFill>
              </a:defRPr>
            </a:pPr>
            <a:r>
              <a:t>• Full TFDMGA (Complete): IC = +0.0348 | ICIR = 3.12</a:t>
            </a:r>
          </a:p>
          <a:p>
            <a:pPr>
              <a:spcBef>
                <a:spcPts val="600"/>
              </a:spcBef>
              <a:defRPr sz="1100" b="0">
                <a:solidFill>
                  <a:srgbClr val="1E293B"/>
                </a:solidFill>
              </a:defRPr>
            </a:pPr>
            <a:r>
              <a:t>• (-) Causal TCN Encoders: IC = +0.0291 (Loss: -0.0057) -&gt; Largest drop, proving temporal sequence benefit.</a:t>
            </a:r>
          </a:p>
          <a:p>
            <a:pPr>
              <a:spcBef>
                <a:spcPts val="600"/>
              </a:spcBef>
              <a:defRPr sz="1100" b="0">
                <a:solidFill>
                  <a:srgbClr val="1E293B"/>
                </a:solidFill>
              </a:defRPr>
            </a:pPr>
            <a:r>
              <a:t>• (-) Ring Attention: IC = +0.0305 (Loss: -0.0043) -&gt; Proves crossmodal hierarchy prevents single modality dominance.</a:t>
            </a:r>
          </a:p>
          <a:p>
            <a:pPr>
              <a:spcBef>
                <a:spcPts val="600"/>
              </a:spcBef>
              <a:defRPr sz="1100" b="0">
                <a:solidFill>
                  <a:srgbClr val="1E293B"/>
                </a:solidFill>
              </a:defRPr>
            </a:pPr>
            <a:r>
              <a:t>• (-) Macro Dynamic Gating: IC = +0.0312 (Loss: -0.0036) -&gt; Highlights adaptive regime weighting benefit.</a:t>
            </a:r>
          </a:p>
          <a:p>
            <a:pPr>
              <a:spcBef>
                <a:spcPts val="600"/>
              </a:spcBef>
              <a:defRPr sz="1100" b="0">
                <a:solidFill>
                  <a:srgbClr val="1E293B"/>
                </a:solidFill>
              </a:defRPr>
            </a:pPr>
            <a:r>
              <a:t>• (-) Sentiment Modality: IC = +0.0332 (Loss: -0.0016) -&gt; Sentiment provides secondary refinement.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SHAP Feature Attribution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High-Frequency Drivers: Short-term momentum (mom_21d_rank) and relative strength (rsi_14d_rank) drive daily directionality.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Fundamental Anchors: Operating quality (quality_proxy_rank) and valuation (value_proxy_rank) provide structural baseline ranking.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Macro Regime Defense: Macro commodity inputs (nat_gas_price_rank, oil_wti_price_rank) and volatility (vix_rank) defend against drawdowns during Fed rate hikes &amp; COVID stress.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Portfolio Execution Rules &amp; Microstructure Frictions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Execution Buffer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1-Day Lag Delay:</a:t>
            </a:r>
            <a:br/>
            <a:r>
              <a:t>Trading signals generated at close of day t are executed at open of day t+1.</a:t>
            </a:r>
            <a:br/>
            <a:br/>
            <a:r>
              <a:t>• Zero Lookahead Guarantee:</a:t>
            </a:r>
            <a:br/>
            <a:r>
              <a:t>Prevents overnight price gap contamination &amp; unrealistic same-close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2918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Transaction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29260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10 bps Round-Trip Fee:</a:t>
            </a:r>
            <a:br/>
            <a:r>
              <a:t>Deducted from daily strategy returns (c * Turnover_t).</a:t>
            </a:r>
            <a:br/>
            <a:br/>
            <a:r>
              <a:t>• Turnover Rebalancing:</a:t>
            </a:r>
            <a:br/>
            <a:r>
              <a:t>Accounts for weight drift between daily cross-sections (~13% daily turnover).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3. 2:1 TPSL Overlay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920240"/>
            <a:ext cx="3017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51C30"/>
                </a:solidFill>
              </a:defRPr>
            </a:pPr>
            <a:r>
              <a:t>• Risk Overlay Rules:</a:t>
            </a:r>
            <a:br/>
            <a:r>
              <a:t>Take-Profit at +4.0%</a:t>
            </a:r>
            <a:br/>
            <a:r>
              <a:t>Stop-Loss at -2.0%</a:t>
            </a:r>
            <a:br/>
            <a:br/>
            <a:r>
              <a:t>• Drawdown Mitigation:</a:t>
            </a:r>
            <a:br/>
            <a:r>
              <a:t>Prevents severe capital decay during market crashes (COVID 2020 &amp; Fed rate hikes 2022).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$1,000 USD Account Compounding Trajectory (2020–2024 Folds)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7026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Strategy / Model Architecture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0 bps (Gross)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5 bps (Low Fee)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10 bps (NET Standard)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20 bps (High Fee)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S&amp;P 500 Buy &amp; Hold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$2,060.43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$2,060.43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$2,060.43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$2,060.43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LASSO Long-Only (Q5)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$2,114.09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$2,054.10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$1,995.56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$1,883.66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Random Forest Long-Only (Q5)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$2,577.26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$2,503.95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$2,432.77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$2,296.38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PyTorch LSTM Long-Only (Q5)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$3,306.31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$3,212.31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$3,120.99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$2,946.05</a:t>
                      </a:r>
                    </a:p>
                  </a:txBody>
                  <a:tcPr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LSTM + 2:1 TPSL Risk Overlay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$4,625.10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$4,494.30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$4,368.50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$4,123.80</a:t>
                      </a:r>
                    </a:p>
                  </a:txBody>
                  <a:tcPr/>
                </a:tc>
              </a:tr>
              <a:tr h="47026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TFDMGA + 2:1 TPSL Risk Overlay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$6,864.20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$6,670.10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$6,482.10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$6,118.40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8348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Compounding Growth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E293B"/>
                </a:solidFill>
              </a:defRPr>
            </a:pPr>
            <a:r>
              <a:t>• Compounding Result: Under net 10 bps standard fees, TFDMGA + 2:1 TPSL expands an initial $1,000 USD deposit to $6,482.10 USD by December 2024 (vs $2,060.43 USD S&amp;P 500 benchmark).</a:t>
            </a:r>
            <a:br/>
            <a:r>
              <a:t>• Fee Resistance: Even under high 20 bps fees, TFDMGA maintains strong compounding ($6,118.40 USD).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Fama-French 5-Factor Spanning &amp; Market Efficiency Proof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Strategy (Net 10 bps)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Alpha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Alpha t-stat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R^2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RMW Beta (t-stat)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LASSO 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-16.59%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-0.008 (-0.12)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Unspanned (Negative Alpha)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Random Forest 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-7.76%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+0.290 (+3.06)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Spanned (p &gt; 0.05)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PyTorch LSTM 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-0.36%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+0.486 (+8.66)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Spanned (alpha = 0)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TFDMGA LS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-0.18%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-0.03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41.2%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+0.512 (+9.12)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A51C30"/>
                          </a:solidFill>
                        </a:defRPr>
                      </a:pPr>
                      <a:r>
                        <a:t>Spanned (alpha = 0)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480560"/>
            <a:ext cx="1069848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Academic Conclusion on Market 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1033272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F2043"/>
                </a:solidFill>
              </a:defRPr>
            </a:pPr>
            <a:r>
              <a:t>• Zero Net Strategy Alpha (alpha = -0.18%, p = 0.976): Net strategy returns are statistically zero after accounting for 5 Fama-French factors.</a:t>
            </a:r>
            <a:br/>
            <a:r>
              <a:t>• Dynamic Factor Allocation Engine: 100% of return generation is explained by dynamic factor tilts toward robust operating profitability (RMW beta = +0.512, t = +9.12).</a:t>
            </a:r>
            <a:br/>
            <a:r>
              <a:t>• Consistency with EMH: Deep learning models do not discover unpriced market arbitrage; rather, they automate dynamic factor rotation across macroeconomic regimes.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Live Deployment &amp; Snapshot: Alpaca Autonomous Options Trading 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Live Alpaca Account &amp; Trading Snapshot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defRPr sz="1150" b="1">
                <a:solidFill>
                  <a:srgbClr val="10B981"/>
                </a:solidFill>
              </a:defRPr>
            </a:pPr>
            <a:r>
              <a:t>• Account Status: ACTIVE (Paper Level 3 Options Approved)</a:t>
            </a:r>
          </a:p>
          <a:p>
            <a:pPr>
              <a:spcBef>
                <a:spcPts val="600"/>
              </a:spcBef>
              <a:defRPr sz="1150" b="1">
                <a:solidFill>
                  <a:srgbClr val="10B981"/>
                </a:solidFill>
              </a:defRPr>
            </a:pPr>
            <a:r>
              <a:t>• Main Trading Equity: $104,460.78 USD</a:t>
            </a:r>
          </a:p>
          <a:p>
            <a:pPr>
              <a:spcBef>
                <a:spcPts val="600"/>
              </a:spcBef>
              <a:defRPr sz="1150" b="0">
                <a:solidFill>
                  <a:srgbClr val="1E293B"/>
                </a:solidFill>
              </a:defRPr>
            </a:pPr>
            <a:r>
              <a:t>• Options Buying Power: $280,532.12 USD</a:t>
            </a:r>
          </a:p>
          <a:p>
            <a:pPr>
              <a:spcBef>
                <a:spcPts val="600"/>
              </a:spcBef>
              <a:defRPr sz="1150" b="0">
                <a:solidFill>
                  <a:srgbClr val="1E293B"/>
                </a:solidFill>
              </a:defRPr>
            </a:pPr>
            <a:r>
              <a:t>• Open Active Positions: 11 Active Positions (MSFT, AAPL, TSLA, MA, ACN)</a:t>
            </a:r>
          </a:p>
          <a:p>
            <a:pPr>
              <a:spcBef>
                <a:spcPts val="600"/>
              </a:spcBef>
              <a:defRPr sz="1150" b="0">
                <a:solidFill>
                  <a:srgbClr val="1E293B"/>
                </a:solidFill>
              </a:defRPr>
            </a:pPr>
            <a:r>
              <a:t>• Contract Selection: At-The-Money (ATM) Calls &amp; Puts (within +-5% stock price band)</a:t>
            </a:r>
          </a:p>
          <a:p>
            <a:pPr>
              <a:spcBef>
                <a:spcPts val="600"/>
              </a:spcBef>
              <a:defRPr sz="1150" b="0">
                <a:solidFill>
                  <a:srgbClr val="1E293B"/>
                </a:solidFill>
              </a:defRPr>
            </a:pPr>
            <a:r>
              <a:t>• Cloud Infrastructure: 24/7 GitHub Actions Cloud Execution (.github/workflows/daily_trading.yml)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2. Live Bot Execution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Signal Engine: Daily cross-sectional model ranks top quintile (Q5) long targets.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Contract Screener: Filters option chain for expiration dates &gt; today &amp; strike closest to stock price.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Risk Overlay: Live trailing stop-loss, order status polling, and cash guard alerts ($150 minimum threshold).</a:t>
            </a:r>
          </a:p>
          <a:p>
            <a:pPr>
              <a:spcBef>
                <a:spcPts val="1000"/>
              </a:spcBef>
              <a:defRPr sz="1150">
                <a:solidFill>
                  <a:srgbClr val="1E293B"/>
                </a:solidFill>
              </a:defRPr>
            </a:pPr>
            <a:r>
              <a:t>• Pure Options Mode: Equity fallbacks disabled to ensure 100% pure options strategy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4AF37"/>
                </a:solidFill>
              </a:defRPr>
            </a:pPr>
            <a:r>
              <a:t>MASTER'S THESIS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Research Extensions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Summary of Thesis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1E293B"/>
                </a:solidFill>
              </a:defRPr>
            </a:pPr>
            <a:r>
              <a:t>1. Predictability: Deep sequence models achieve superior out-of-sample predictability (TFDMGA IC = +0.0348, ICIR = 3.12).</a:t>
            </a:r>
          </a:p>
          <a:p>
            <a:pPr>
              <a:spcBef>
                <a:spcPts val="400"/>
              </a:spcBef>
              <a:defRPr sz="1150">
                <a:solidFill>
                  <a:srgbClr val="1E293B"/>
                </a:solidFill>
              </a:defRPr>
            </a:pPr>
            <a:r>
              <a:t>2. Economic Viability: Forecasts compound $1,000 USD to $6,482.10 USD net of 10 bps transaction fees &amp; 1-day delays.</a:t>
            </a:r>
          </a:p>
          <a:p>
            <a:pPr>
              <a:spcBef>
                <a:spcPts val="400"/>
              </a:spcBef>
              <a:defRPr sz="1150">
                <a:solidFill>
                  <a:srgbClr val="1E293B"/>
                </a:solidFill>
              </a:defRPr>
            </a:pPr>
            <a:r>
              <a:t>3. Market Efficiency: Spanning regressions confirm net alpha is zero (alpha = -0.18%, p = 0.976), proving dynamic factor rotation.</a:t>
            </a:r>
          </a:p>
          <a:p>
            <a:pPr>
              <a:spcBef>
                <a:spcPts val="400"/>
              </a:spcBef>
              <a:defRPr sz="1150">
                <a:solidFill>
                  <a:srgbClr val="1E293B"/>
                </a:solidFill>
              </a:defRPr>
            </a:pPr>
            <a:r>
              <a:t>4. Live Trading Deployment: Successfully deployed 24/7 automated options trading bot on Alpaca paper markets.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10698480" cy="2560320"/>
          </a:xfrm>
          <a:prstGeom prst="roundRect">
            <a:avLst/>
          </a:prstGeom>
          <a:solidFill>
            <a:srgbClr val="0F2043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03327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Thank You! Open for Committee 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Candidate: Murtuza Yusuf Rangwala</a:t>
            </a:r>
          </a:p>
          <a:p>
            <a:pPr algn="ctr">
              <a:spcBef>
                <a:spcPts val="800"/>
              </a:spcBef>
              <a:defRPr sz="1400">
                <a:solidFill>
                  <a:srgbClr val="D4AF37"/>
                </a:solidFill>
              </a:defRPr>
            </a:pPr>
            <a:r>
              <a:t>Supervisor: Prof. Giuseppina Chesini | University of Verona, Department of Economics</a:t>
            </a:r>
          </a:p>
          <a:p>
            <a:pPr algn="ctr">
              <a:spcBef>
                <a:spcPts val="800"/>
              </a:spcBef>
              <a:defRPr sz="1200">
                <a:solidFill>
                  <a:srgbClr val="E2E8F0"/>
                </a:solidFill>
              </a:defRPr>
            </a:pPr>
            <a:r>
              <a:t>GitHub Repository: github.com/murtuzarangwala8-alt/thesis-stock-prediction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