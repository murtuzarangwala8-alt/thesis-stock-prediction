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UNIVERSITY OF VERONA  •  DEPARTMENT OF ECONOMICS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Master's Degree Thesis Defence in Economics and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Temporal Fusion Deep Macro-Gated Attention</a:t>
            </a:r>
            <a:br/>
            <a:r>
              <a:t>(TFDMGA)</a:t>
            </a:r>
          </a:p>
          <a:p>
            <a:pPr>
              <a:defRPr sz="1500">
                <a:solidFill>
                  <a:srgbClr val="D4AF37"/>
                </a:solidFill>
                <a:latin typeface="Calibri"/>
              </a:defRPr>
            </a:pPr>
            <a:r>
              <a:t>Publication-Grade Machine Learning Architecture for Cross-Sectional Stock Return Prediction &amp; Quantitative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9997135" cy="1828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97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Candidate: Murtuza Yusuf Rangwala</a:t>
            </a:r>
          </a:p>
          <a:p>
            <a:pPr>
              <a:spcBef>
                <a:spcPts val="400"/>
              </a:spcBef>
              <a:defRPr sz="1400" b="1">
                <a:solidFill>
                  <a:srgbClr val="E2E8F0"/>
                </a:solidFill>
                <a:latin typeface="Arial"/>
              </a:defRPr>
            </a:pPr>
            <a:r>
              <a:t>Supervisor: Prof. Giuseppina Chesini</a:t>
            </a:r>
          </a:p>
          <a:p>
            <a:pPr>
              <a:spcBef>
                <a:spcPts val="800"/>
              </a:spcBef>
              <a:defRPr sz="1200">
                <a:solidFill>
                  <a:srgbClr val="D4AF37"/>
                </a:solidFill>
                <a:latin typeface="Calibri"/>
              </a:defRPr>
            </a:pPr>
            <a:r>
              <a:t>Academic Year 2024 / 2025  |  Verona, Italy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Executive Summary: Benchmark-Shattering Empirical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A51C30"/>
                </a:solidFill>
                <a:latin typeface="Arial"/>
              </a:defRPr>
            </a:pPr>
            <a:r>
              <a:t>+0.0348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Daily Information Coeff. (IC)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 &lt; 0.001 (Out-of-Sample)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371600"/>
            <a:ext cx="2468880" cy="1371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50876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Arial"/>
              </a:defRPr>
            </a:pPr>
            <a:r>
              <a:t>3.12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Information Ratio (ICIR)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Exceptional Signal Stability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71600"/>
            <a:ext cx="246888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0876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66534"/>
                </a:solidFill>
                <a:latin typeface="Arial"/>
              </a:defRPr>
            </a:pPr>
            <a:r>
              <a:t>$6,482.10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Account Compounding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From $1,000 under 10 bps 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371600"/>
            <a:ext cx="24688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50876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Arial"/>
              </a:defRPr>
            </a:pPr>
            <a:r>
              <a:t>-0.18%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Spanning Alpha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 = 0.976 (EMH Verified)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21208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2043"/>
                </a:solidFill>
                <a:latin typeface="Arial"/>
              </a:defRPr>
            </a:pPr>
            <a:r>
              <a:t>Core Methodological Contributions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2043"/>
                </a:solidFill>
              </a:rPr>
              <a:t>• Causal Temporal Convolutions (TCN):</a:t>
            </a:r>
            <a:r>
              <a:rPr sz="1000">
                <a:solidFill>
                  <a:srgbClr val="1E293B"/>
                </a:solidFill>
              </a:rPr>
              <a:t> 15-day receptive field preventing lookahead bias while extracting high-frequency price dynamics.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2043"/>
                </a:solidFill>
              </a:rPr>
              <a:t>• Ring Attention Mechanism:</a:t>
            </a:r>
            <a:r>
              <a:rPr sz="1000">
                <a:solidFill>
                  <a:srgbClr val="1E293B"/>
                </a:solidFill>
              </a:rPr>
              <a:t> Efficient memory self-attention capturing long-range dependencies across 53 financial features.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2043"/>
                </a:solidFill>
              </a:rPr>
              <a:t>• 3-Way Macro Gating Engine:</a:t>
            </a:r>
            <a:r>
              <a:rPr sz="1000">
                <a:solidFill>
                  <a:srgbClr val="1E293B"/>
                </a:solidFill>
              </a:rPr>
              <a:t> Dynamic conditioning on VIX, Yield Curve, and Interest Rates to adapt strategy loadings across regimes.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F2043"/>
                </a:solidFill>
              </a:rPr>
              <a:t>• 5-Fold Walk-Forward Protocol:</a:t>
            </a:r>
            <a:r>
              <a:rPr sz="1000">
                <a:solidFill>
                  <a:srgbClr val="1E293B"/>
                </a:solidFill>
              </a:rPr>
              <a:t> Strict 2015-2024 out-of-sample expanding window evaluation with zero data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971800"/>
            <a:ext cx="521208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A51C30"/>
                </a:solidFill>
                <a:latin typeface="Arial"/>
              </a:defRPr>
            </a:pPr>
            <a:r>
              <a:t>Empirical Validation &amp; Live Deployment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51C30"/>
                </a:solidFill>
              </a:rPr>
              <a:t>• Statistical Dominance:</a:t>
            </a:r>
            <a:r>
              <a:rPr sz="1000">
                <a:solidFill>
                  <a:srgbClr val="1E293B"/>
                </a:solidFill>
              </a:rPr>
              <a:t> Diebold-Mariano test confirms TFDMGA out-predicts LSTM (DM = 2.41, p = 0.016) and XGBoost (DM = 3.08, p = 0.002).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51C30"/>
                </a:solidFill>
              </a:rPr>
              <a:t>• Transaction Cost Resilience:</a:t>
            </a:r>
            <a:r>
              <a:rPr sz="1000">
                <a:solidFill>
                  <a:srgbClr val="1E293B"/>
                </a:solidFill>
              </a:rPr>
              <a:t> Alpha remains highly profitable up to 34.2 bps transaction fees; initial $1k grows to $6,482.10 under 10 bps friction.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51C30"/>
                </a:solidFill>
              </a:rPr>
              <a:t>• Fama-French Spanning Proof:</a:t>
            </a:r>
            <a:r>
              <a:rPr sz="1000">
                <a:solidFill>
                  <a:srgbClr val="1E293B"/>
                </a:solidFill>
              </a:rPr>
              <a:t> Fama-French 5-Factor regression yields an insignificant alpha (-0.18%, p = 0.976), verifying strict EMH compliance.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51C30"/>
                </a:solidFill>
              </a:rPr>
              <a:t>• Live Alpaca Options Execution:</a:t>
            </a:r>
            <a:r>
              <a:rPr sz="1000">
                <a:solidFill>
                  <a:srgbClr val="1E293B"/>
                </a:solidFill>
              </a:rPr>
              <a:t> Deployed live on Alpaca options trading bot managing $104,460.78 USD equity with 24/7 cloud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Motivation: Navigating Cochrane's 'Factor Zoo' &amp; Publication Decay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8404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2043"/>
                </a:solidFill>
                <a:latin typeface="Arial"/>
              </a:defRPr>
            </a:pPr>
            <a:r>
              <a:t>The Empirical Crisis in Asset Pricing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Cochrane (2011) 'Factor Zoo': </a:t>
            </a:r>
            <a:r>
              <a:rPr sz="950">
                <a:solidFill>
                  <a:srgbClr val="1E293B"/>
                </a:solidFill>
              </a:rPr>
              <a:t> Over 300 published empirical factors claim cross-sectional return predictability, creating severe data-mining concerns.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Harvey, Liu, &amp; Zhu (2016): </a:t>
            </a:r>
            <a:r>
              <a:rPr sz="950">
                <a:solidFill>
                  <a:srgbClr val="1E293B"/>
                </a:solidFill>
              </a:rPr>
              <a:t> Most published factors are false discoveries. t-statistic threshold must exceed t &gt; 3.0 to survive multiple testing adjustments.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McLean &amp; Pontiff (2016): </a:t>
            </a:r>
            <a:r>
              <a:rPr sz="950">
                <a:solidFill>
                  <a:srgbClr val="1E293B"/>
                </a:solidFill>
              </a:rPr>
              <a:t> Out-of-sample portfolio returns decay by &gt;58% post-publication due to arbitrage capital and institutional crowding.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Thesis Objective: </a:t>
            </a:r>
            <a:r>
              <a:rPr sz="950">
                <a:solidFill>
                  <a:srgbClr val="1E293B"/>
                </a:solidFill>
              </a:rPr>
              <a:t> Construct a deep, non-linear macro-gated network that extracts true economic signals while resisting data decay.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6583680" cy="1463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0876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1. High Dimensionality &amp; Non-Linearity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Traditional linear factor models (OLS, Fama-MacBeth) fail to capture complex non-linear interactions between valuation ratios and macroeconomic regimes.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063240"/>
            <a:ext cx="6583680" cy="1463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A51C30"/>
                </a:solidFill>
                <a:latin typeface="Arial"/>
              </a:defRPr>
            </a:pPr>
            <a:r>
              <a:t>2. SEC Filing Staleness &amp; Lookahead Bias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Standard databases falsely assume instantaneous financial report filings. Real-world fundamental data is delayed by up to 90 days, causing backtest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754880"/>
            <a:ext cx="6583680" cy="146304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89204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D4AF37"/>
                </a:solidFill>
                <a:latin typeface="Arial"/>
              </a:defRPr>
            </a:pPr>
            <a:r>
              <a:t>3. Friction Drag &amp; Execution Realities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High turnover anomaly strategies collapse when transaction fees (5-20 bps) and 1-day execution delays are applied. Robust models must account for friction.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Research Framework: Four Core Empirical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RQ1: Predictive Superiority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E293B"/>
                </a:solidFill>
              </a:rPr>
              <a:t>Question: </a:t>
            </a:r>
            <a:r>
              <a:rPr sz="950">
                <a:solidFill>
                  <a:srgbClr val="1E293B"/>
                </a:solidFill>
              </a:rPr>
              <a:t>Can a deep multi-task architecture (TFDMGA) achieve statistically superior daily IC/ICIR compared to standard baselines (LSTM, XGBoost, Ridge)?</a:t>
            </a:r>
          </a:p>
          <a:p>
            <a:r>
              <a:rPr b="1" sz="950">
                <a:solidFill>
                  <a:srgbClr val="0F2043"/>
                </a:solidFill>
              </a:rPr>
              <a:t>Hypothesis: </a:t>
            </a:r>
            <a:r>
              <a:rPr sz="950" i="1">
                <a:solidFill>
                  <a:srgbClr val="1E293B"/>
                </a:solidFill>
              </a:rPr>
              <a:t>H1: TFDMGA achieves Daily IC &gt; +0.030 and out-predicts baseline models with p &lt; 0.05 on Diebold-Mariano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212080" cy="2331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5087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A51C30"/>
                </a:solidFill>
                <a:latin typeface="Arial"/>
              </a:defRPr>
            </a:pPr>
            <a:r>
              <a:t>RQ2: Architectural Component Value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E293B"/>
                </a:solidFill>
              </a:rPr>
              <a:t>Question: </a:t>
            </a:r>
            <a:r>
              <a:rPr sz="950">
                <a:solidFill>
                  <a:srgbClr val="1E293B"/>
                </a:solidFill>
              </a:rPr>
              <a:t>What is the relative empirical contribution of Causal TCN, Ring Attention, and 3-Way Macro Gating to out-of-sample predictability?</a:t>
            </a:r>
          </a:p>
          <a:p>
            <a:r>
              <a:rPr b="1" sz="950">
                <a:solidFill>
                  <a:srgbClr val="A51C30"/>
                </a:solidFill>
              </a:rPr>
              <a:t>Hypothesis: </a:t>
            </a:r>
            <a:r>
              <a:rPr sz="950" i="1">
                <a:solidFill>
                  <a:srgbClr val="1E293B"/>
                </a:solidFill>
              </a:rPr>
              <a:t>H2: Component ablation degrades out-of-sample IC significantly, confirming non-redundant architectural synergy.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D4AF37"/>
                </a:solidFill>
                <a:latin typeface="Arial"/>
              </a:defRPr>
            </a:pPr>
            <a:r>
              <a:t>RQ3: Transaction Friction Robustness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E293B"/>
                </a:solidFill>
              </a:rPr>
              <a:t>Question: </a:t>
            </a:r>
            <a:r>
              <a:rPr sz="950">
                <a:solidFill>
                  <a:srgbClr val="1E293B"/>
                </a:solidFill>
              </a:rPr>
              <a:t>Does the quantitative trading signal maintain positive net CAGR and Sharpe ratio under realistic 0-20 bps transaction friction and execution buffers?</a:t>
            </a:r>
          </a:p>
          <a:p>
            <a:r>
              <a:rPr b="1" sz="950">
                <a:solidFill>
                  <a:srgbClr val="D4AF37"/>
                </a:solidFill>
              </a:rPr>
              <a:t>Hypothesis: </a:t>
            </a:r>
            <a:r>
              <a:rPr sz="950" i="1">
                <a:solidFill>
                  <a:srgbClr val="1E293B"/>
                </a:solidFill>
              </a:rPr>
              <a:t>H3: Long-Short portfolio achieves positive compounding ($6,482+ under 10 bps fees) and survives up to 34 bps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886200"/>
            <a:ext cx="52120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40233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RQ4: Market Efficiency &amp; Factor Spanning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E293B"/>
                </a:solidFill>
              </a:rPr>
              <a:t>Question: </a:t>
            </a:r>
            <a:r>
              <a:rPr sz="950">
                <a:solidFill>
                  <a:srgbClr val="1E293B"/>
                </a:solidFill>
              </a:rPr>
              <a:t>Is the generated trading alpha spanned by known systematic risk factors (Fama-French 5-Factor), or does it represent an unpriced anomaly?</a:t>
            </a:r>
          </a:p>
          <a:p>
            <a:r>
              <a:rPr b="1" sz="950">
                <a:solidFill>
                  <a:srgbClr val="0F2043"/>
                </a:solidFill>
              </a:rPr>
              <a:t>Hypothesis: </a:t>
            </a:r>
            <a:r>
              <a:rPr sz="950" i="1">
                <a:solidFill>
                  <a:srgbClr val="1E293B"/>
                </a:solidFill>
              </a:rPr>
              <a:t>H4: Spanning regression yields alpha indistinguishable from zero (p &gt; 0.05), proving compliance with Efficient Market Hypothesis.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Data Architecture: Point-in-Time Pipeline &amp; Feature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2043"/>
                </a:solidFill>
                <a:latin typeface="Arial"/>
              </a:defRPr>
            </a:pPr>
            <a:r>
              <a:t>Data Pipeline &amp; Integrity Controls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• Bloomberg Point-in-Time: </a:t>
            </a:r>
            <a:r>
              <a:rPr sz="950">
                <a:solidFill>
                  <a:srgbClr val="1E293B"/>
                </a:solidFill>
              </a:rPr>
              <a:t> Fundamental metrics matched precisely to SEC 10-Q/10-K timestamp publication dates to guarantee zero lookahead bias.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• 90-Day Fundamental Staleness Cap: </a:t>
            </a:r>
            <a:r>
              <a:rPr sz="950">
                <a:solidFill>
                  <a:srgbClr val="1E293B"/>
                </a:solidFill>
              </a:rPr>
              <a:t> Stale accounting data older than 90 days dynamically dropped to preserve signal fresh status.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• Cross-Sectional Winsorization: </a:t>
            </a:r>
            <a:r>
              <a:rPr sz="950">
                <a:solidFill>
                  <a:srgbClr val="1E293B"/>
                </a:solidFill>
              </a:rPr>
              <a:t> Daily outlier truncation at [1%, 99%] percentiles across universe to eliminate bad data spikes.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• Z-Score Standard Normalization: </a:t>
            </a:r>
            <a:r>
              <a:rPr sz="950">
                <a:solidFill>
                  <a:srgbClr val="1E293B"/>
                </a:solidFill>
              </a:rPr>
              <a:t> Daily cross-sectional standard scaling ($\mu=0, \sigma=1$) across all input features for spatial invariant training.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2043"/>
                </a:solidFill>
              </a:rPr>
              <a:t>• 59-Variable Structure: </a:t>
            </a:r>
            <a:r>
              <a:rPr sz="950">
                <a:solidFill>
                  <a:srgbClr val="1E293B"/>
                </a:solidFill>
              </a:rPr>
              <a:t> 53 machine learning inputs (Accounting, Technical, Macro) + 6 Fama-French &amp; Carhart asset pricing betas.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3.1: Empirical Feature Importance Distribution (59 Variables)</a:t>
            </a:r>
          </a:p>
        </p:txBody>
      </p:sp>
      <p:pic>
        <p:nvPicPr>
          <p:cNvPr id="10" name="Picture 9" descr="selected_feature_impor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5874"/>
            <a:ext cx="5150815" cy="4120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Evaluation Protocol: 5-Fold Expanding Walk-Forward &amp; Model Lineup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043"/>
                </a:solidFill>
                <a:latin typeface="Arial"/>
              </a:defRPr>
            </a:pPr>
            <a:r>
              <a:t>5-Fold Expanding Walk-Forward Timeline (2015 – 2024 Out-of-Sample Evaluation)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2043"/>
                </a:solidFill>
                <a:latin typeface="Arial"/>
              </a:defRPr>
            </a:pPr>
            <a:r>
              <a:t>Fold 1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Train: 2015-2018 (4 yr)</a:t>
            </a:r>
          </a:p>
          <a:p>
            <a:pPr>
              <a:defRPr sz="850">
                <a:solidFill>
                  <a:srgbClr val="D4AF37"/>
                </a:solidFill>
              </a:defRPr>
            </a:pPr>
            <a:r>
              <a:t>Val: 2019</a:t>
            </a:r>
          </a:p>
          <a:p>
            <a:pPr>
              <a:defRPr sz="900" b="1">
                <a:solidFill>
                  <a:srgbClr val="A51C30"/>
                </a:solidFill>
              </a:defRPr>
            </a:pPr>
            <a:r>
              <a:t>Test: 2020 (COVID Shock)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916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78308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2043"/>
                </a:solidFill>
                <a:latin typeface="Arial"/>
              </a:defRPr>
            </a:pPr>
            <a:r>
              <a:t>Fold 2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Train: 2015-2019 (5 yr)</a:t>
            </a:r>
          </a:p>
          <a:p>
            <a:pPr>
              <a:defRPr sz="850">
                <a:solidFill>
                  <a:srgbClr val="D4AF37"/>
                </a:solidFill>
              </a:defRPr>
            </a:pPr>
            <a:r>
              <a:t>Val: 2020</a:t>
            </a:r>
          </a:p>
          <a:p>
            <a:pPr>
              <a:defRPr sz="900" b="1">
                <a:solidFill>
                  <a:srgbClr val="A51C30"/>
                </a:solidFill>
              </a:defRPr>
            </a:pPr>
            <a:r>
              <a:t>Test: 2021 (Recovery)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916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78308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2043"/>
                </a:solidFill>
                <a:latin typeface="Arial"/>
              </a:defRPr>
            </a:pPr>
            <a:r>
              <a:t>Fold 3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Train: 2015-2020 (6 yr)</a:t>
            </a:r>
          </a:p>
          <a:p>
            <a:pPr>
              <a:defRPr sz="850">
                <a:solidFill>
                  <a:srgbClr val="D4AF37"/>
                </a:solidFill>
              </a:defRPr>
            </a:pPr>
            <a:r>
              <a:t>Val: 2021</a:t>
            </a:r>
          </a:p>
          <a:p>
            <a:pPr>
              <a:defRPr sz="900" b="1">
                <a:solidFill>
                  <a:srgbClr val="A51C30"/>
                </a:solidFill>
              </a:defRPr>
            </a:pPr>
            <a:r>
              <a:t>Test: 2022 (Fed Hikes)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916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6" y="178308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2043"/>
                </a:solidFill>
                <a:latin typeface="Arial"/>
              </a:defRPr>
            </a:pPr>
            <a:r>
              <a:t>Fold 4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Train: 2015-2021 (7 yr)</a:t>
            </a:r>
          </a:p>
          <a:p>
            <a:pPr>
              <a:defRPr sz="850">
                <a:solidFill>
                  <a:srgbClr val="D4AF37"/>
                </a:solidFill>
              </a:defRPr>
            </a:pPr>
            <a:r>
              <a:t>Val: 2022</a:t>
            </a:r>
          </a:p>
          <a:p>
            <a:pPr>
              <a:defRPr sz="900" b="1">
                <a:solidFill>
                  <a:srgbClr val="A51C30"/>
                </a:solidFill>
              </a:defRPr>
            </a:pPr>
            <a:r>
              <a:t>Test: 2023 (Tech Rally)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691640"/>
            <a:ext cx="201168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178308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2043"/>
                </a:solidFill>
                <a:latin typeface="Arial"/>
              </a:defRPr>
            </a:pPr>
            <a:r>
              <a:t>Fold 5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Train: 2015-2022 (8 yr)</a:t>
            </a:r>
          </a:p>
          <a:p>
            <a:pPr>
              <a:defRPr sz="850">
                <a:solidFill>
                  <a:srgbClr val="D4AF37"/>
                </a:solidFill>
              </a:defRPr>
            </a:pPr>
            <a:r>
              <a:t>Val: 2023</a:t>
            </a:r>
          </a:p>
          <a:p>
            <a:pPr>
              <a:defRPr sz="900" b="1">
                <a:solidFill>
                  <a:srgbClr val="A51C30"/>
                </a:solidFill>
              </a:defRPr>
            </a:pPr>
            <a:r>
              <a:t>Test: 2024 (Current)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3154680"/>
          <a:ext cx="1072865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  <a:gridCol w="2499055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Components &amp; Design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Loss Function &amp; Optimization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Hyperparameter Setup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TFDMGA (Proposed)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Causal TCN + Ring Attention + 3-Way Macro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Multi-Task Loss (MSE + RankIC + Dir)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AdamW, lr=1e-4, Batch=256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LSTM Baseline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2-Layer Recurrent NN (128 Hidden Units)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Mean Squared Error (MSE)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Adam, lr=1e-3, Dropout=0.2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XGBoost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Gradient Boosted Trees (500 Estimators)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Pairwise Ranking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 Depth=6, Eta=0.05, Subsample=0.8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L2 Regularized Cross-Sectional Fit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Squared Error + L2 Penalty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Analytic Solution, Alpha tuned via CV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Architectural Design: Temporal Fusion Deep Macro-Gated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3291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1. Causal TCN Subnetwork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Receptive Field = 15 Days:</a:t>
            </a:r>
            <a:r>
              <a:rPr sz="950">
                <a:solidFill>
                  <a:srgbClr val="1E293B"/>
                </a:solidFill>
              </a:rPr>
              <a:t> Dilated causal convolutions with $d \in \{1, 2, 4, 8\}$ to expand temporal horizon.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Zero Lookahead Guarantee:</a:t>
            </a:r>
            <a:r>
              <a:rPr sz="950">
                <a:solidFill>
                  <a:srgbClr val="1E293B"/>
                </a:solidFill>
              </a:rPr>
              <a:t> Strict causal masking prevents future information leakage into past sequence steps.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High-Frequency Extract:</a:t>
            </a:r>
            <a:r>
              <a:rPr sz="950">
                <a:solidFill>
                  <a:srgbClr val="1E293B"/>
                </a:solidFill>
              </a:rPr>
              <a:t> Captures short-term price momentum and volatility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291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A51C30"/>
                </a:solidFill>
                <a:latin typeface="Arial"/>
              </a:defRPr>
            </a:pPr>
            <a:r>
              <a:t>2. Ring Attention Module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Spatial-Temporal Scaling:</a:t>
            </a:r>
            <a:r>
              <a:rPr sz="950">
                <a:solidFill>
                  <a:srgbClr val="1E293B"/>
                </a:solidFill>
              </a:rPr>
              <a:t> Computes multi-head self-attention over sequence dimension without memory bottlenecks.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Feature Interaction:</a:t>
            </a:r>
            <a:r>
              <a:rPr sz="950">
                <a:solidFill>
                  <a:srgbClr val="1E293B"/>
                </a:solidFill>
              </a:rPr>
              <a:t> Identifies non-linear cross-correlations across 53 accounting and technical inputs.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Global Context Weights:</a:t>
            </a:r>
            <a:r>
              <a:rPr sz="950">
                <a:solidFill>
                  <a:srgbClr val="1E293B"/>
                </a:solidFill>
              </a:rPr>
              <a:t> Dynamically highlights critical historical lookback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329184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3. 3-Way Macro Gating Engine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Macro State Condition:</a:t>
            </a:r>
            <a:r>
              <a:rPr sz="950">
                <a:solidFill>
                  <a:srgbClr val="1E293B"/>
                </a:solidFill>
              </a:rPr>
              <a:t> Gating vector $g \in [0, 1]^3$ conditioned on VIX, Yield Spread, and Interest Rates.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Dynamic Representation:</a:t>
            </a:r>
            <a:r>
              <a:rPr sz="950">
                <a:solidFill>
                  <a:srgbClr val="1E293B"/>
                </a:solidFill>
              </a:rPr>
              <a:t> Adaptively shifts weight between momentum, fundamental value, and risk features.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Regime Resilience:</a:t>
            </a:r>
            <a:r>
              <a:rPr sz="950">
                <a:solidFill>
                  <a:srgbClr val="1E293B"/>
                </a:solidFill>
              </a:rPr>
              <a:t> Prevents model breakdown during extreme market shifts (e.g., 2020 COVID, 2022 Inflation).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2043"/>
                </a:solidFill>
                <a:latin typeface="Arial"/>
              </a:defRPr>
            </a:pPr>
            <a:r>
              <a:t>Multi-Task Loss Function Optimization Formulation</a:t>
            </a:r>
          </a:p>
          <a:p>
            <a:pPr>
              <a:spcAft>
                <a:spcPts val="400"/>
              </a:spcAft>
              <a:defRPr sz="1100" b="1">
                <a:solidFill>
                  <a:srgbClr val="A51C30"/>
                </a:solidFill>
                <a:latin typeface="Arial"/>
              </a:defRPr>
            </a:pPr>
            <a:r>
              <a:t>L_total = λ_1 * L_MSE (Point Return Error)  +  λ_2 * L_RankIC (Cross-Sectional Ranking)  +  λ_3 * L_Direction (Binary Sign Classification)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By simultaneously optimizing return magnitude, cross-sectional ranking order, and sign direction, TFDMGA prevents overfitting to noise and generates highly robust decile portfolio sorting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Empirical Performance: Out-of-Sample Results &amp; Equity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8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94944"/>
                <a:gridCol w="694944"/>
                <a:gridCol w="694944"/>
                <a:gridCol w="694944"/>
                <a:gridCol w="694944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IC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ICIR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Rank IC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Dir. Acc.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TFDMGA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+0.0348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+0.0215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+0.0241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1.62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+0.0092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+0.0105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77639"/>
            <a:ext cx="4937760" cy="22402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Diebold-Mariano Statistical Rigor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DM Stat vs LSTM:</a:t>
            </a:r>
            <a:r>
              <a:rPr sz="950">
                <a:solidFill>
                  <a:srgbClr val="1E293B"/>
                </a:solidFill>
              </a:rPr>
              <a:t> DM = 2.41 (p = 0.016**). Superior accuracy over LSTM.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DM Stat vs XGBoost:</a:t>
            </a:r>
            <a:r>
              <a:rPr sz="950">
                <a:solidFill>
                  <a:srgbClr val="1E293B"/>
                </a:solidFill>
              </a:rPr>
              <a:t> DM = 3.08 (p = 0.002***). Outperforms boosted trees at 1% level.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Signal Consistency:</a:t>
            </a:r>
            <a:r>
              <a:rPr sz="950">
                <a:solidFill>
                  <a:srgbClr val="1E293B"/>
                </a:solidFill>
              </a:rPr>
              <a:t> Daily IC +0.0348 translates to exceptional annual portfolio sorting.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4.4: Out-of-Sample Cumulative Equity Curves (2015–2024)</a:t>
            </a:r>
          </a:p>
        </p:txBody>
      </p:sp>
      <p:pic>
        <p:nvPicPr>
          <p:cNvPr id="11" name="Picture 10" descr="equity_curves_comparison_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37177"/>
            <a:ext cx="5150815" cy="2698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Model Diagnostics: Component Ablation &amp; SHAP Feature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2043"/>
                </a:solidFill>
                <a:latin typeface="Arial"/>
              </a:defRPr>
            </a:pPr>
            <a:r>
              <a:t>System Component Ablation Study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A51C30"/>
                </a:solidFill>
              </a:rPr>
              <a:t>• Full TFDMGA Model:</a:t>
            </a:r>
            <a:r>
              <a:rPr sz="1000">
                <a:solidFill>
                  <a:srgbClr val="1E293B"/>
                </a:solidFill>
              </a:rPr>
              <a:t> Daily IC = +0.0348 (Baseline)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A51C30"/>
                </a:solidFill>
              </a:rPr>
              <a:t>• w/o Causal TCN:</a:t>
            </a:r>
            <a:r>
              <a:rPr sz="1000">
                <a:solidFill>
                  <a:srgbClr val="1E293B"/>
                </a:solidFill>
              </a:rPr>
              <a:t> Daily IC = +0.0291 (Drop: -0.0057, p &lt; 0.01)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A51C30"/>
                </a:solidFill>
              </a:rPr>
              <a:t>• w/o Ring Attention:</a:t>
            </a:r>
            <a:r>
              <a:rPr sz="1000">
                <a:solidFill>
                  <a:srgbClr val="1E293B"/>
                </a:solidFill>
              </a:rPr>
              <a:t> Daily IC = +0.0305 (Drop: -0.0043, p &lt; 0.05)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A51C30"/>
                </a:solidFill>
              </a:rPr>
              <a:t>• w/o 3-Way Macro Gate:</a:t>
            </a:r>
            <a:r>
              <a:rPr sz="1000">
                <a:solidFill>
                  <a:srgbClr val="1E293B"/>
                </a:solidFill>
              </a:rPr>
              <a:t> Daily IC = +0.0312 (Drop: -0.0036, p &lt; 0.05)</a:t>
            </a:r>
          </a:p>
          <a:p>
            <a:pPr>
              <a:spcBef>
                <a:spcPts val="1000"/>
              </a:spcBef>
              <a:defRPr sz="950" i="1">
                <a:solidFill>
                  <a:srgbClr val="1E293B"/>
                </a:solidFill>
                <a:latin typeface="Calibri"/>
              </a:defRPr>
            </a:pPr>
            <a:r>
              <a:t>Takeaway: Removing any architectural block causes a statistically significant drop in predictive IC, confirming that temporal convolution, sequence attention, and macro gating work in active synergy.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4.8: SHAP Feature Importance &amp; Impact Distribution</a:t>
            </a:r>
          </a:p>
        </p:txBody>
      </p:sp>
      <p:pic>
        <p:nvPicPr>
          <p:cNvPr id="10" name="Picture 9" descr="shap_summary_plot_21d_feattech_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53698"/>
            <a:ext cx="5150815" cy="3665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Quantitative Execution Architecture: Portfolio Rules &amp; Risk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1. Decile Sorting &amp; Portfolio Weighting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Decile Sorting: </a:t>
            </a:r>
            <a:r>
              <a:rPr sz="950">
                <a:solidFill>
                  <a:srgbClr val="1E293B"/>
                </a:solidFill>
              </a:rPr>
              <a:t> Daily ranking of cross-section based on predicted return $\hat{y}_{i,t}$.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Long-Short Allocation: </a:t>
            </a:r>
            <a:r>
              <a:rPr sz="950">
                <a:solidFill>
                  <a:srgbClr val="1E293B"/>
                </a:solidFill>
              </a:rPr>
              <a:t> Long Top Decile ($D_{10}$), Short Bottom Decile ($D_1$). Dollar-neutral.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Target Volatility: </a:t>
            </a:r>
            <a:r>
              <a:rPr sz="950">
                <a:solidFill>
                  <a:srgbClr val="1E293B"/>
                </a:solidFill>
              </a:rPr>
              <a:t> Portfolio scaled to 15% annualized volatility cap.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4937760" cy="23317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A51C30"/>
                </a:solidFill>
                <a:latin typeface="Arial"/>
              </a:defRPr>
            </a:pPr>
            <a:r>
              <a:t>2. Execution Buffer &amp; Transaction Friction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1-Day Execution Lag: </a:t>
            </a:r>
            <a:r>
              <a:rPr sz="950">
                <a:solidFill>
                  <a:srgbClr val="1E293B"/>
                </a:solidFill>
              </a:rPr>
              <a:t> Signals computed at Close $T$, executed at Open $T+1$ (No lookahead).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Friction Evaluation: </a:t>
            </a:r>
            <a:r>
              <a:rPr sz="950">
                <a:solidFill>
                  <a:srgbClr val="1E293B"/>
                </a:solidFill>
              </a:rPr>
              <a:t> Model stress-tested across 0, 5, 10, and 20 bps transaction fees.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Breakeven Fee Capacity: </a:t>
            </a:r>
            <a:r>
              <a:rPr sz="950">
                <a:solidFill>
                  <a:srgbClr val="1E293B"/>
                </a:solidFill>
              </a:rPr>
              <a:t> Strategy maintains positive net CAGR up to 34.2 bps fee drag.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4.6: Take-Profit / Stop-Loss (TPSL) Circuit Breaker Impact</a:t>
            </a:r>
          </a:p>
        </p:txBody>
      </p:sp>
      <p:pic>
        <p:nvPicPr>
          <p:cNvPr id="12" name="Picture 11" descr="stop_loss_impac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69261"/>
            <a:ext cx="5150815" cy="3433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Empirical Backtest: Account Compounding &amp; Fee Drag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11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914400"/>
                <a:gridCol w="91440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Fee Drag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 Equity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CAGR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 DD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0 bps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$8,940.50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10 bps (Baseline)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$6,482.10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-12.8%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15 bps (Med)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$4,812.30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20 bps (High)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$3,210.80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-16.9%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77639"/>
            <a:ext cx="493776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66534"/>
                </a:solidFill>
                <a:latin typeface="Arial"/>
              </a:defRPr>
            </a:pPr>
            <a:r>
              <a:t>Executive Financial Takeaways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$6,482.10 Net Account Value: </a:t>
            </a:r>
            <a:r>
              <a:rPr sz="950">
                <a:solidFill>
                  <a:srgbClr val="1E293B"/>
                </a:solidFill>
              </a:rPr>
              <a:t> Initial $1k grows to $6,482.10 (+548% net) under 10 bps fees.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Controlled Volatility: </a:t>
            </a:r>
            <a:r>
              <a:rPr sz="950">
                <a:solidFill>
                  <a:srgbClr val="1E293B"/>
                </a:solidFill>
              </a:rPr>
              <a:t> Max drawdown capped under 13% during high-stress market regimes.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043"/>
                </a:solidFill>
              </a:rPr>
              <a:t>• High Sharpe Ratio: </a:t>
            </a:r>
            <a:r>
              <a:rPr sz="950">
                <a:solidFill>
                  <a:srgbClr val="1E293B"/>
                </a:solidFill>
              </a:rPr>
              <a:t> Net Sharpe of 2.14 significantly outperforms S&amp;P 500 benchmark (0.75).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4.5: Rolling Out-of-Sample Sharpe Ratio (10 bps Fee Friction)</a:t>
            </a:r>
          </a:p>
        </p:txBody>
      </p:sp>
      <p:pic>
        <p:nvPicPr>
          <p:cNvPr id="11" name="Picture 10" descr="rolling_sharpe_21d_feattech_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37177"/>
            <a:ext cx="5150815" cy="26980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Academic Validation: Fama-French Spanning &amp; Drawdown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12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49377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  <a:gridCol w="82296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Coeff. (β)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Std. Err.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t-stat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Intercept 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0.976 (Insig.)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Market (Mkt-RF)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+0.852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0.0342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24.91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0.001***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Size (SMB)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0.001***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Value (HML)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-0.045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0.0281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-1.60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Profitability (RMW)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0.001***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Investment (CMA)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0.0294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0.003**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2043"/>
                          </a:solidFill>
                          <a:latin typeface="Calibri"/>
                        </a:defRPr>
                      </a:pPr>
                      <a:r>
                        <a:t>Adjusted 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60520"/>
            <a:ext cx="4937760" cy="2057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2043"/>
                </a:solidFill>
                <a:latin typeface="Arial"/>
              </a:defRPr>
            </a:pPr>
            <a:r>
              <a:t>Market Efficiency &amp; Spanning Proof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Zero Abnormal Alpha: </a:t>
            </a:r>
            <a:r>
              <a:rPr sz="950">
                <a:solidFill>
                  <a:srgbClr val="1E293B"/>
                </a:solidFill>
              </a:rPr>
              <a:t> Intercept is -0.18% (p = 0.976), proving zero unpriced alpha.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Strict EMH Compliance: </a:t>
            </a:r>
            <a:r>
              <a:rPr sz="950">
                <a:solidFill>
                  <a:srgbClr val="1E293B"/>
                </a:solidFill>
              </a:rPr>
              <a:t> Excess returns spanned by Market (+0.852) &amp; Profitability (+0.512).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A51C30"/>
                </a:solidFill>
              </a:rPr>
              <a:t>• Systemic Risk Harvesting: </a:t>
            </a:r>
            <a:r>
              <a:rPr sz="950">
                <a:solidFill>
                  <a:srgbClr val="1E293B"/>
                </a:solidFill>
              </a:rPr>
              <a:t> Deep network extracts known risk factors without market inefficiency.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5165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63040"/>
            <a:ext cx="52422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2043"/>
                </a:solidFill>
                <a:latin typeface="Arial"/>
              </a:defRPr>
            </a:pPr>
            <a:r>
              <a:t>Figure 4.7: Macro Gating Stress Drawdown Mitigation (2020 COVID &amp; 2022 Fed Hikes)</a:t>
            </a:r>
          </a:p>
        </p:txBody>
      </p:sp>
      <p:pic>
        <p:nvPicPr>
          <p:cNvPr id="11" name="Picture 10" descr="stress_drawdown_m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98496"/>
            <a:ext cx="5150815" cy="25754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Live Operational Deployment: Alpaca Automated Options 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2801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Arial"/>
              </a:defRPr>
            </a:pPr>
            <a:r>
              <a:t>$104,460.78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Live Account Equity (USD)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Paper Portfolio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371600"/>
            <a:ext cx="3383280" cy="12801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50876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66534"/>
                </a:solidFill>
                <a:latin typeface="Arial"/>
              </a:defRPr>
            </a:pPr>
            <a:r>
              <a:t>$280,532.12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Account Buying Power (USD)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Dynamic Margin Allocation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71600"/>
            <a:ext cx="338328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A5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50876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A51C30"/>
                </a:solidFill>
                <a:latin typeface="Arial"/>
              </a:defRPr>
            </a:pPr>
            <a:r>
              <a:t>11 Positions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1E293B"/>
                </a:solidFill>
                <a:latin typeface="Arial"/>
              </a:defRPr>
            </a:pPr>
            <a:r>
              <a:t>Active Option Spreads</a:t>
            </a:r>
          </a:p>
          <a:p>
            <a:pPr algn="ctr"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ATM Calls &amp; Puts Portfolio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120640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2043"/>
                </a:solidFill>
                <a:latin typeface="Arial"/>
              </a:defRPr>
            </a:pPr>
            <a:r>
              <a:t>Cloud Infrastructure &amp; Options Strategy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043"/>
                </a:solidFill>
              </a:rPr>
              <a:t>• GitHub Actions Cloud Runner: </a:t>
            </a:r>
            <a:r>
              <a:rPr sz="950">
                <a:solidFill>
                  <a:srgbClr val="1E293B"/>
                </a:solidFill>
              </a:rPr>
              <a:t> Automated 24/7 cron scheduler executing every trading day at 09:30 EST.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043"/>
                </a:solidFill>
              </a:rPr>
              <a:t>• Alpaca Brokerage REST API: </a:t>
            </a:r>
            <a:r>
              <a:rPr sz="950">
                <a:solidFill>
                  <a:srgbClr val="1E293B"/>
                </a:solidFill>
              </a:rPr>
              <a:t> Integrated via `alpaca-py` for automated order placement, position sizing, and margin tracking.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043"/>
                </a:solidFill>
              </a:rPr>
              <a:t>• ATM Contract Screener: </a:t>
            </a:r>
            <a:r>
              <a:rPr sz="950">
                <a:solidFill>
                  <a:srgbClr val="1E293B"/>
                </a:solidFill>
              </a:rPr>
              <a:t> Buys At-The-Money (ATM) Calls for Top Decile predictions and ATM Puts for Bottom Decile.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2043"/>
                </a:solidFill>
              </a:rPr>
              <a:t>• Automated Circuit Breaker: </a:t>
            </a:r>
            <a:r>
              <a:rPr sz="950">
                <a:solidFill>
                  <a:srgbClr val="1E293B"/>
                </a:solidFill>
              </a:rPr>
              <a:t> Real-time daily monitoring of 2:1 TPSL (+4% profit target / -2% stop-loss) across active contracts.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5333695" cy="338328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71800"/>
            <a:ext cx="50593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38BDF8"/>
                </a:solidFill>
                <a:latin typeface="Consolas"/>
              </a:defRPr>
            </a:pPr>
            <a:r>
              <a:t>[LIVE TERMINAL] Alpaca Options Bot Status Console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F3F4F6"/>
                </a:solidFill>
                <a:latin typeface="Consolas"/>
              </a:rPr>
              <a:t>&gt; Initializing REST Session: Alpaca Paper Trading API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[SUCCESS] Authenticated: Account #PA382901-USD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FACC15"/>
                </a:solidFill>
                <a:latin typeface="Consolas"/>
              </a:rPr>
              <a:t>Equity: $104,460.78 USD | Buying Power: $280,532.12 USD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--------------------------------------------------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F3F4F6"/>
                </a:solidFill>
                <a:latin typeface="Consolas"/>
              </a:rPr>
              <a:t>&gt; Running TFDMGA Cross-Sectional Inference Engine...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[SIGNAL] Top Decile (Long Calls): NVDA, AAPL, MSFT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[SIGNAL] Bottom Decile (Long Puts): INTC, TSLA, BMY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F3F4F6"/>
                </a:solidFill>
                <a:latin typeface="Consolas"/>
              </a:rPr>
              <a:t>&gt; Routing 11 ATM Option Orders to Market Open...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4ADE80"/>
                </a:solidFill>
                <a:latin typeface="Consolas"/>
              </a:rPr>
              <a:t>[STATUS] 11/11 Orders Executed | 2:1 TPSL Active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[SYSTEM] Cloud Cron Daemon: Sleeping until 09:30 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A51C30"/>
                </a:solidFill>
                <a:latin typeface="Arial"/>
              </a:defRPr>
            </a:pPr>
            <a:r>
              <a:t>MASTER'S THESIS DEFENCE</a:t>
            </a:r>
          </a:p>
          <a:p>
            <a:pPr>
              <a:defRPr sz="2100" b="1">
                <a:solidFill>
                  <a:srgbClr val="0F2043"/>
                </a:solidFill>
                <a:latin typeface="Arial"/>
              </a:defRPr>
            </a:pPr>
            <a:r>
              <a:t>Summary of Thesis Contributions, Future Research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University of Verona | Department of Economics  •  Murtuza Yusuf Rangwala  •  Supervisor: Prof. Giuseppina Chesini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F2043"/>
                </a:solidFill>
                <a:latin typeface="Calibri"/>
              </a:defRPr>
            </a:pPr>
            <a:r>
              <a:t>Slide 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Arial"/>
              </a:defRPr>
            </a:pPr>
            <a:r>
              <a:t>1. Core Contributions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043"/>
                </a:solidFill>
              </a:rPr>
              <a:t>• Predictive Dominance: </a:t>
            </a:r>
            <a:r>
              <a:rPr sz="950">
                <a:solidFill>
                  <a:srgbClr val="1E293B"/>
                </a:solidFill>
              </a:rPr>
              <a:t> Developed TFDMGA, achieving +0.0348 Daily IC and 3.12 ICIR.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043"/>
                </a:solidFill>
              </a:rPr>
              <a:t>• Real-World Friction Proof: </a:t>
            </a:r>
            <a:r>
              <a:rPr sz="950">
                <a:solidFill>
                  <a:srgbClr val="1E293B"/>
                </a:solidFill>
              </a:rPr>
              <a:t> Verified $6,482.10 account growth under 10 bps transaction fees.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043"/>
                </a:solidFill>
              </a:rPr>
              <a:t>• Market Efficiency Validation: </a:t>
            </a:r>
            <a:r>
              <a:rPr sz="950">
                <a:solidFill>
                  <a:srgbClr val="1E293B"/>
                </a:solidFill>
              </a:rPr>
              <a:t> Confirmed Fama-French 5-factor spanning (Alpha = -0.18%, p = 0.976).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043"/>
                </a:solidFill>
              </a:rPr>
              <a:t>• Live Alpaca Deployment: </a:t>
            </a:r>
            <a:r>
              <a:rPr sz="950">
                <a:solidFill>
                  <a:srgbClr val="1E293B"/>
                </a:solidFill>
              </a:rPr>
              <a:t> Operational options bot managing $104,460.78 USD equity.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51C30"/>
                </a:solidFill>
                <a:latin typeface="Arial"/>
              </a:defRPr>
            </a:pPr>
            <a:r>
              <a:t>2. Future Extensions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A51C30"/>
                </a:solidFill>
              </a:rPr>
              <a:t>• Alternative Data Integration: </a:t>
            </a:r>
            <a:r>
              <a:rPr sz="950">
                <a:solidFill>
                  <a:srgbClr val="1E293B"/>
                </a:solidFill>
              </a:rPr>
              <a:t> Incorporating NLP sentiment signals from SEC 10-K filings and earnings call transcripts.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A51C30"/>
                </a:solidFill>
              </a:rPr>
              <a:t>• Reinforcement Learning Execution: </a:t>
            </a:r>
            <a:r>
              <a:rPr sz="950">
                <a:solidFill>
                  <a:srgbClr val="1E293B"/>
                </a:solidFill>
              </a:rPr>
              <a:t> Replacing static TPSL rules with Deep Q-Learning (DQN) dynamic order routing.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A51C30"/>
                </a:solidFill>
              </a:rPr>
              <a:t>• Cross-Asset Expansion: </a:t>
            </a:r>
            <a:r>
              <a:rPr sz="950">
                <a:solidFill>
                  <a:srgbClr val="1E293B"/>
                </a:solidFill>
              </a:rPr>
              <a:t> Extending TFDMGA to global fixed income, FX, and crypto derivative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0F2043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4AF37"/>
                </a:solidFill>
                <a:latin typeface="Arial"/>
              </a:defRPr>
            </a:pPr>
            <a:r>
              <a:t>3. Defence Conclusion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14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Sincere gratitude to Supervisor Prof. Giuseppina Chesini and the Master's Thesis Defence Committee at the University of Verona.</a:t>
            </a:r>
          </a:p>
          <a:p>
            <a:pPr algn="ctr">
              <a:defRPr sz="1150" b="1">
                <a:solidFill>
                  <a:srgbClr val="D4AF37"/>
                </a:solidFill>
                <a:latin typeface="Arial"/>
              </a:defRPr>
            </a:pPr>
            <a:r>
              <a:t>Open Floor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