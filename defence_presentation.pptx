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0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03520"/>
          </a:xfrm>
          <a:prstGeom prst="roundRect">
            <a:avLst/>
          </a:prstGeom>
          <a:solidFill>
            <a:srgbClr val="142850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UNIVERSITY OF VERONA  •  DEPARTMENT OF ECONOMICS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  <a:latin typeface="Calibri"/>
              </a:defRPr>
            </a:pPr>
            <a:r>
              <a:t>Master's Degree Thesis Defence in Economics and Data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99971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Temporal Fusion Deep Macro-Gated Attention</a:t>
            </a:r>
            <a:br/>
            <a:r>
              <a:t>(TFDMGA)</a:t>
            </a:r>
          </a:p>
          <a:p>
            <a:pPr>
              <a:defRPr sz="1600">
                <a:solidFill>
                  <a:srgbClr val="D4AF37"/>
                </a:solidFill>
                <a:latin typeface="Calibri"/>
              </a:defRPr>
            </a:pPr>
            <a:r>
              <a:t>Publication-Grade Machine Learning Architecture for Cross-Sectional Stock Return Prediction &amp; Quantitative Execution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931920"/>
            <a:ext cx="9997135" cy="18288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971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Candidate: Murtuza Yusuf Rangwala</a:t>
            </a:r>
          </a:p>
          <a:p>
            <a:pPr>
              <a:spcBef>
                <a:spcPts val="400"/>
              </a:spcBef>
              <a:defRPr sz="1400" b="1">
                <a:solidFill>
                  <a:srgbClr val="E2E8F0"/>
                </a:solidFill>
                <a:latin typeface="Arial"/>
              </a:defRPr>
            </a:pPr>
            <a:r>
              <a:t>Supervisor: Prof. Giuseppina Chesini</a:t>
            </a:r>
          </a:p>
          <a:p>
            <a:pPr>
              <a:spcBef>
                <a:spcPts val="800"/>
              </a:spcBef>
              <a:defRPr sz="1200">
                <a:solidFill>
                  <a:srgbClr val="D4AF37"/>
                </a:solidFill>
                <a:latin typeface="Calibri"/>
              </a:defRPr>
            </a:pPr>
            <a:r>
              <a:t>Academic Year 2024 / 2025  |  Verona, Italy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Executive Summary: Benchmark-Shattering Empirical Findings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2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2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68880" cy="146304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A51C30"/>
                </a:solidFill>
                <a:latin typeface="Arial"/>
              </a:defRPr>
            </a:pPr>
            <a:r>
              <a:t>+0.0348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Daily Information Coeff. (IC)</a:t>
            </a:r>
          </a:p>
          <a:p>
            <a:pPr algn="ctr">
              <a:spcBef>
                <a:spcPts val="2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p &lt; 0.001 (Out-of-Sample)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3864" y="1463040"/>
            <a:ext cx="2468880" cy="14630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1024" y="160020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0F2043"/>
                </a:solidFill>
                <a:latin typeface="Arial"/>
              </a:defRPr>
            </a:pPr>
            <a:r>
              <a:t>3.12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Information Ratio (ICIR)</a:t>
            </a:r>
          </a:p>
          <a:p>
            <a:pPr algn="ctr">
              <a:spcBef>
                <a:spcPts val="2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Exceptional Signal Stability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463040"/>
            <a:ext cx="246888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60020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166534"/>
                </a:solidFill>
                <a:latin typeface="Arial"/>
              </a:defRPr>
            </a:pPr>
            <a:r>
              <a:t>$6,482.10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Account Compounding</a:t>
            </a:r>
          </a:p>
          <a:p>
            <a:pPr algn="ctr">
              <a:spcBef>
                <a:spcPts val="2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From $1,000 under 10 bps fees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88552" y="1463040"/>
            <a:ext cx="2468880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160020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0F2043"/>
                </a:solidFill>
                <a:latin typeface="Arial"/>
              </a:defRPr>
            </a:pPr>
            <a:r>
              <a:t>-0.18%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Spanning Alpha</a:t>
            </a:r>
          </a:p>
          <a:p>
            <a:pPr algn="ctr">
              <a:spcBef>
                <a:spcPts val="2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p = 0.976 (EMH Verified)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54680"/>
            <a:ext cx="5212080" cy="3108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3756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043"/>
                </a:solidFill>
                <a:latin typeface="Arial"/>
              </a:defRPr>
            </a:pPr>
            <a:r>
              <a:t>Core Methodological Contributions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• Causal Temporal Convolutions (TCN):</a:t>
            </a:r>
            <a:r>
              <a:rPr sz="1050">
                <a:solidFill>
                  <a:srgbClr val="1E293B"/>
                </a:solidFill>
              </a:rPr>
              <a:t> 15-day receptive field preventing lookahead bias while extracting high-frequency price dynamics.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• Ring Attention Mechanism:</a:t>
            </a:r>
            <a:r>
              <a:rPr sz="1050">
                <a:solidFill>
                  <a:srgbClr val="1E293B"/>
                </a:solidFill>
              </a:rPr>
              <a:t> Efficient memory self-attention capturing long-range dependencies across 53 financial features.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• 3-Way Macro Gating Engine:</a:t>
            </a:r>
            <a:r>
              <a:rPr sz="1050">
                <a:solidFill>
                  <a:srgbClr val="1E293B"/>
                </a:solidFill>
              </a:rPr>
              <a:t> Dynamic conditioning on VIX, Yield Curve, and Interest Rates to adapt strategy loadings across regimes.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• 5-Fold Walk-Forward Protocol:</a:t>
            </a:r>
            <a:r>
              <a:rPr sz="1050">
                <a:solidFill>
                  <a:srgbClr val="1E293B"/>
                </a:solidFill>
              </a:rPr>
              <a:t> Strict 2015-2024 out-of-sample expanding window evaluation with zero data leakage.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154680"/>
            <a:ext cx="5212080" cy="3108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3756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A51C30"/>
                </a:solidFill>
                <a:latin typeface="Arial"/>
              </a:defRPr>
            </a:pPr>
            <a:r>
              <a:t>Empirical Validation &amp; Live Deployment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A51C30"/>
                </a:solidFill>
              </a:rPr>
              <a:t>• Statistical Dominance:</a:t>
            </a:r>
            <a:r>
              <a:rPr sz="1050">
                <a:solidFill>
                  <a:srgbClr val="1E293B"/>
                </a:solidFill>
              </a:rPr>
              <a:t> Diebold-Mariano test confirms TFDMGA out-predicts LSTM (DM = 2.41, p = 0.016) and XGBoost (DM = 3.08, p = 0.002).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A51C30"/>
                </a:solidFill>
              </a:rPr>
              <a:t>• Transaction Cost Resilience:</a:t>
            </a:r>
            <a:r>
              <a:rPr sz="1050">
                <a:solidFill>
                  <a:srgbClr val="1E293B"/>
                </a:solidFill>
              </a:rPr>
              <a:t> Alpha remains highly profitable up to 34.2 bps transaction fees; initial $1k grows to $6,482.10 under 10 bps friction.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A51C30"/>
                </a:solidFill>
              </a:rPr>
              <a:t>• Fama-French Spanning Proof:</a:t>
            </a:r>
            <a:r>
              <a:rPr sz="1050">
                <a:solidFill>
                  <a:srgbClr val="1E293B"/>
                </a:solidFill>
              </a:rPr>
              <a:t> Fama-French 5-Factor regression yields an insignificant alpha (-0.18%, p = 0.976), verifying strict EMH compliance.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A51C30"/>
                </a:solidFill>
              </a:rPr>
              <a:t>• Live Alpaca Options Execution:</a:t>
            </a:r>
            <a:r>
              <a:rPr sz="1050">
                <a:solidFill>
                  <a:srgbClr val="1E293B"/>
                </a:solidFill>
              </a:rPr>
              <a:t> Deployed live on Alpaca options trading bot managing $104,460.78 USD equity with 24/7 cloud automation.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Motivation: Navigating Cochrane's 'Factor Zoo' &amp; Publication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3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8404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2043"/>
                </a:solidFill>
                <a:latin typeface="Arial"/>
              </a:defRPr>
            </a:pPr>
            <a:r>
              <a:t>The Empirical Crisis in Asset Pricing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043"/>
                </a:solidFill>
              </a:rPr>
              <a:t>Cochrane (2011) 'Factor Zoo': </a:t>
            </a:r>
            <a:r>
              <a:rPr sz="1000">
                <a:solidFill>
                  <a:srgbClr val="1E293B"/>
                </a:solidFill>
              </a:rPr>
              <a:t> Over 300 published empirical factors claim cross-sectional return predictability, creating severe data-mining concerns.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043"/>
                </a:solidFill>
              </a:rPr>
              <a:t>Harvey, Liu, &amp; Zhu (2016): </a:t>
            </a:r>
            <a:r>
              <a:rPr sz="1000">
                <a:solidFill>
                  <a:srgbClr val="1E293B"/>
                </a:solidFill>
              </a:rPr>
              <a:t> Most published factors are false discoveries. t-statistic threshold must exceed t &gt; 3.0 to survive multiple testing adjustments.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043"/>
                </a:solidFill>
              </a:rPr>
              <a:t>McLean &amp; Pontiff (2016): </a:t>
            </a:r>
            <a:r>
              <a:rPr sz="1000">
                <a:solidFill>
                  <a:srgbClr val="1E293B"/>
                </a:solidFill>
              </a:rPr>
              <a:t> Out-of-sample portfolio returns decay by &gt;58% post-publication due to arbitrage capital and institutional crowding.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043"/>
                </a:solidFill>
              </a:rPr>
              <a:t>Thesis Objective: </a:t>
            </a:r>
            <a:r>
              <a:rPr sz="1000">
                <a:solidFill>
                  <a:srgbClr val="1E293B"/>
                </a:solidFill>
              </a:rPr>
              <a:t> Construct a deep, non-linear macro-gated network that extracts true economic signals while resisting data decay.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463040"/>
            <a:ext cx="6583680" cy="1417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600200"/>
            <a:ext cx="6217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2043"/>
                </a:solidFill>
                <a:latin typeface="Arial"/>
              </a:defRPr>
            </a:pPr>
            <a:r>
              <a:t>1. High Dimensionality &amp; Non-Linearity</a:t>
            </a:r>
          </a:p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Traditional linear factor models (OLS, Fama-MacBeth) fail to capture complex non-linear interactions between valuation ratios and macroeconomic regimes.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3108960"/>
            <a:ext cx="6583680" cy="14173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3246120"/>
            <a:ext cx="6217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A51C30"/>
                </a:solidFill>
                <a:latin typeface="Arial"/>
              </a:defRPr>
            </a:pPr>
            <a:r>
              <a:t>2. SEC Filing Staleness &amp; Lookahead Bias</a:t>
            </a:r>
          </a:p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Standard databases falsely assume instantaneous financial report filings. Real-world fundamental data is delayed by up to 90 days, causing backtest distortion.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4754880"/>
            <a:ext cx="6583680" cy="141732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4892040"/>
            <a:ext cx="6217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4AF37"/>
                </a:solidFill>
                <a:latin typeface="Arial"/>
              </a:defRPr>
            </a:pPr>
            <a:r>
              <a:t>3. Friction Drag &amp; Execution Realities</a:t>
            </a:r>
          </a:p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High turnover anomaly strategies collapse when transaction fees (5-20 bps) and 1-day execution delays are applied. Robust models must account for friction.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Research Framework: Four Core Empirical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4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4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2043"/>
                </a:solidFill>
                <a:latin typeface="Arial"/>
              </a:defRPr>
            </a:pPr>
            <a:r>
              <a:t>RQ1: Predictive Superiority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293B"/>
                </a:solidFill>
              </a:rPr>
              <a:t>Question: </a:t>
            </a:r>
            <a:r>
              <a:rPr sz="1000">
                <a:solidFill>
                  <a:srgbClr val="1E293B"/>
                </a:solidFill>
              </a:rPr>
              <a:t>Can a deep multi-task architecture (TFDMGA) achieve statistically superior daily IC/ICIR compared to standard baselines (LSTM, XGBoost, Ridge)?</a:t>
            </a:r>
          </a:p>
          <a:p>
            <a:r>
              <a:rPr b="1" sz="1000">
                <a:solidFill>
                  <a:srgbClr val="0F2043"/>
                </a:solidFill>
              </a:rPr>
              <a:t>Hypothesis: </a:t>
            </a:r>
            <a:r>
              <a:rPr sz="1000" i="1">
                <a:solidFill>
                  <a:srgbClr val="1E293B"/>
                </a:solidFill>
              </a:rPr>
              <a:t>H1: TFDMGA achieves Daily IC &gt; +0.030 and out-predicts baseline models with p &lt; 0.05 on Diebold-Mariano 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463040"/>
            <a:ext cx="5212080" cy="22860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0975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A51C30"/>
                </a:solidFill>
                <a:latin typeface="Arial"/>
              </a:defRPr>
            </a:pPr>
            <a:r>
              <a:t>RQ2: Architectural Component Value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293B"/>
                </a:solidFill>
              </a:rPr>
              <a:t>Question: </a:t>
            </a:r>
            <a:r>
              <a:rPr sz="1000">
                <a:solidFill>
                  <a:srgbClr val="1E293B"/>
                </a:solidFill>
              </a:rPr>
              <a:t>What is the relative empirical contribution of Causal TCN, Ring Attention, and 3-Way Macro Gating to out-of-sample predictability?</a:t>
            </a:r>
          </a:p>
          <a:p>
            <a:r>
              <a:rPr b="1" sz="1000">
                <a:solidFill>
                  <a:srgbClr val="A51C30"/>
                </a:solidFill>
              </a:rPr>
              <a:t>Hypothesis: </a:t>
            </a:r>
            <a:r>
              <a:rPr sz="1000" i="1">
                <a:solidFill>
                  <a:srgbClr val="1E293B"/>
                </a:solidFill>
              </a:rPr>
              <a:t>H2: Component ablation degrades out-of-sample IC significantly, confirming non-redundant architectural synergy.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4AF37"/>
                </a:solidFill>
                <a:latin typeface="Arial"/>
              </a:defRPr>
            </a:pPr>
            <a:r>
              <a:t>RQ3: Transaction Friction Robustness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293B"/>
                </a:solidFill>
              </a:rPr>
              <a:t>Question: </a:t>
            </a:r>
            <a:r>
              <a:rPr sz="1000">
                <a:solidFill>
                  <a:srgbClr val="1E293B"/>
                </a:solidFill>
              </a:rPr>
              <a:t>Does the quantitative trading signal maintain positive net CAGR and Sharpe ratio under realistic 0-20 bps transaction friction and execution buffers?</a:t>
            </a:r>
          </a:p>
          <a:p>
            <a:r>
              <a:rPr b="1" sz="1000">
                <a:solidFill>
                  <a:srgbClr val="D4AF37"/>
                </a:solidFill>
              </a:rPr>
              <a:t>Hypothesis: </a:t>
            </a:r>
            <a:r>
              <a:rPr sz="1000" i="1">
                <a:solidFill>
                  <a:srgbClr val="1E293B"/>
                </a:solidFill>
              </a:rPr>
              <a:t>H3: Long-Short portfolio achieves positive compounding ($6,482+ under 10 bps fees) and survives up to 34 bps friction.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095" y="3931920"/>
            <a:ext cx="52120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0975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2043"/>
                </a:solidFill>
                <a:latin typeface="Arial"/>
              </a:defRPr>
            </a:pPr>
            <a:r>
              <a:t>RQ4: Market Efficiency &amp; Factor Spanning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293B"/>
                </a:solidFill>
              </a:rPr>
              <a:t>Question: </a:t>
            </a:r>
            <a:r>
              <a:rPr sz="1000">
                <a:solidFill>
                  <a:srgbClr val="1E293B"/>
                </a:solidFill>
              </a:rPr>
              <a:t>Is the generated trading alpha spanned by known systematic risk factors (Fama-French 5-Factor), or does it represent an unpriced anomaly?</a:t>
            </a:r>
          </a:p>
          <a:p>
            <a:r>
              <a:rPr b="1" sz="1000">
                <a:solidFill>
                  <a:srgbClr val="0F2043"/>
                </a:solidFill>
              </a:rPr>
              <a:t>Hypothesis: </a:t>
            </a:r>
            <a:r>
              <a:rPr sz="1000" i="1">
                <a:solidFill>
                  <a:srgbClr val="1E293B"/>
                </a:solidFill>
              </a:rPr>
              <a:t>H4: Spanning regression yields alpha indistinguishable from zero (p &gt; 0.05), proving compliance with Efficient Market Hypothesis.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Data Architecture: Point-in-Time Pipeline &amp; 59-Variable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5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5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043"/>
                </a:solidFill>
                <a:latin typeface="Arial"/>
              </a:defRPr>
            </a:pPr>
            <a:r>
              <a:t>Data Pipeline &amp; Integrity Controls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043"/>
                </a:solidFill>
              </a:rPr>
              <a:t>• Bloomberg Point-in-Time: </a:t>
            </a:r>
            <a:r>
              <a:rPr sz="1000">
                <a:solidFill>
                  <a:srgbClr val="1E293B"/>
                </a:solidFill>
              </a:rPr>
              <a:t> Fundamental metrics matched precisely to SEC 10-Q/10-K timestamp publication dates to guarantee zero lookahead bias.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043"/>
                </a:solidFill>
              </a:rPr>
              <a:t>• 90-Day Fundamental Staleness Cap: </a:t>
            </a:r>
            <a:r>
              <a:rPr sz="1000">
                <a:solidFill>
                  <a:srgbClr val="1E293B"/>
                </a:solidFill>
              </a:rPr>
              <a:t> Stale accounting data older than 90 days dynamically dropped to preserve signal fresh status.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043"/>
                </a:solidFill>
              </a:rPr>
              <a:t>• Cross-Sectional Winsorization: </a:t>
            </a:r>
            <a:r>
              <a:rPr sz="1000">
                <a:solidFill>
                  <a:srgbClr val="1E293B"/>
                </a:solidFill>
              </a:rPr>
              <a:t> Daily outlier truncation at [1%, 99%] percentiles across universe to eliminate bad data spikes.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043"/>
                </a:solidFill>
              </a:rPr>
              <a:t>• Z-Score Standard Normalization: </a:t>
            </a:r>
            <a:r>
              <a:rPr sz="1000">
                <a:solidFill>
                  <a:srgbClr val="1E293B"/>
                </a:solidFill>
              </a:rPr>
              <a:t> Daily cross-sectional standard scaling ($\mu=0, \sigma=1$) across all input features for spatial invariant training.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463040"/>
            <a:ext cx="633953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645920"/>
            <a:ext cx="597377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A51C30"/>
                </a:solidFill>
                <a:latin typeface="Arial"/>
              </a:defRPr>
            </a:pPr>
            <a:r>
              <a:t>59-Variable Feature Taxonomy Structure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■ Accounting &amp; Valuation (20 Variables)
</a:t>
            </a:r>
            <a:r>
              <a:rPr sz="950">
                <a:solidFill>
                  <a:srgbClr val="1E293B"/>
                </a:solidFill>
              </a:rPr>
              <a:t>P/E, P/B, EV/EBITDA, Debt/Equity, Free Cash Flow Yield, Return on Invested Capital (ROIC), Operating Margin, Asset Turnover, Earnings Quality Ratios.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A51C30"/>
                </a:solidFill>
              </a:rPr>
              <a:t>■ Technical &amp; Momentum Dynamics (20 Variables)
</a:t>
            </a:r>
            <a:r>
              <a:rPr sz="950">
                <a:solidFill>
                  <a:srgbClr val="1E293B"/>
                </a:solidFill>
              </a:rPr>
              <a:t>RSI-14, MACD Signal, 20d/50d/200d Moving Average Ratios, Realized Volatility 20d/60d, Average True Range (ATR), Volume Momentum, 1M/3M/12M Price Return Residuals.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D4AF37"/>
                </a:solidFill>
              </a:rPr>
              <a:t>■ Macroeconomic Gating Features (13 Variables)
</a:t>
            </a:r>
            <a:r>
              <a:rPr sz="950">
                <a:solidFill>
                  <a:srgbClr val="1E293B"/>
                </a:solidFill>
              </a:rPr>
              <a:t>VIX Volatility Index, 10Y-2Y Treasury Yield Spread, Fed Funds Rate, US Dollar Index (DXY), High Yield Credit Spread, Crude Oil &amp; Commodity Indices, Inflation Expectations.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E293B"/>
                </a:solidFill>
              </a:rPr>
              <a:t>■ Asset Pricing Betas (6 Benchmark Factors)
</a:t>
            </a:r>
            <a:r>
              <a:rPr sz="950">
                <a:solidFill>
                  <a:srgbClr val="1E293B"/>
                </a:solidFill>
              </a:rPr>
              <a:t>Fama-French 5 Factors (Market-RF, SMB, HML, RMW, CMA) + Carhart Momentum (MOM) estimated via 252-day rolling window regressions.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Evaluation Protocol: 5-Fold Expanding Walk-Forward &amp; Model Lineup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6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2043"/>
                </a:solidFill>
                <a:latin typeface="Arial"/>
              </a:defRPr>
            </a:pPr>
            <a:r>
              <a:t>5-Fold Expanding Walk-Forward Timeline (2015 – 2024 Out-of-Sample Evaluation)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1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2015-2018 (4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2019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2020 (COVID Shock)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2" y="173736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82880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2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2015-2019 (5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2020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2021 (Recovery)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73736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5504" y="182880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3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2015-2020 (6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2021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2022 (Fed Hikes)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173736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1776" y="182880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4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2015-2021 (7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2022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2023 (Tech Rally)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36608" y="173736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8048" y="182880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5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2015-2022 (8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2023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2024 (Current)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" y="3200400"/>
          <a:ext cx="1072865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2743200"/>
                <a:gridCol w="2499055"/>
              </a:tblGrid>
              <a:tr h="60350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Architecture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Components &amp; Design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Loss Function &amp; Optimization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Hyperparameter Setup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TFDMGA (Proposed)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Causal TCN + Ring Attention + 3-Way Macro 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Multi-Task Loss (MSE + RankIC + Dir)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AdamW, lr=1e-4, Batch=256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LSTM Baseline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2-Layer Recurrent NN (128 Hidden Units)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Mean Squared Error (MSE)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Adam, lr=1e-3, Dropout=0.2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XGBoost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Gradient Boosted Trees (500 Estimators)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Pairwise Ranking Loss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Max Depth=6, Eta=0.05, Subsample=0.8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Ridge Regression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Linear L2 Regularized Cross-Sectional Fit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Squared Error + L2 Penalty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Analytic Solution, Alpha tuned via CV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Architectural Design: Temporal Fusion Deep Macro-Gated Attention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7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7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32918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2043"/>
                </a:solidFill>
                <a:latin typeface="Arial"/>
              </a:defRPr>
            </a:pPr>
            <a:r>
              <a:t>1. Causal TCN Subnetwork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Receptive Field = 15 Days:</a:t>
            </a:r>
            <a:r>
              <a:rPr sz="950">
                <a:solidFill>
                  <a:srgbClr val="1E293B"/>
                </a:solidFill>
              </a:rPr>
              <a:t> Dilated causal convolutions with $d \in \{1, 2, 4, 8\}$ to expand temporal horizon.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Zero Lookahead Guarantee:</a:t>
            </a:r>
            <a:r>
              <a:rPr sz="950">
                <a:solidFill>
                  <a:srgbClr val="1E293B"/>
                </a:solidFill>
              </a:rPr>
              <a:t> Strict causal masking prevents future information leakage into past sequence steps.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High-Frequency Extract:</a:t>
            </a:r>
            <a:r>
              <a:rPr sz="950">
                <a:solidFill>
                  <a:srgbClr val="1E293B"/>
                </a:solidFill>
              </a:rPr>
              <a:t> Captures short-term price momentum and volatility dynamics.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329184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002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A51C30"/>
                </a:solidFill>
                <a:latin typeface="Arial"/>
              </a:defRPr>
            </a:pPr>
            <a:r>
              <a:t>2. Ring Attention Module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Spatial-Temporal Scaling:</a:t>
            </a:r>
            <a:r>
              <a:rPr sz="950">
                <a:solidFill>
                  <a:srgbClr val="1E293B"/>
                </a:solidFill>
              </a:rPr>
              <a:t> Computes multi-head self-attention over sequence dimension without memory bottlenecks.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Feature Interaction:</a:t>
            </a:r>
            <a:r>
              <a:rPr sz="950">
                <a:solidFill>
                  <a:srgbClr val="1E293B"/>
                </a:solidFill>
              </a:rPr>
              <a:t> Identifies non-linear cross-correlations across 53 accounting and technical inputs.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Global Context Weights:</a:t>
            </a:r>
            <a:r>
              <a:rPr sz="950">
                <a:solidFill>
                  <a:srgbClr val="1E293B"/>
                </a:solidFill>
              </a:rPr>
              <a:t> Dynamically highlights critical historical lookback timestamps.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329184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002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2043"/>
                </a:solidFill>
                <a:latin typeface="Arial"/>
              </a:defRPr>
            </a:pPr>
            <a:r>
              <a:t>3. 3-Way Macro Gating Engine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Macro State Condition:</a:t>
            </a:r>
            <a:r>
              <a:rPr sz="950">
                <a:solidFill>
                  <a:srgbClr val="1E293B"/>
                </a:solidFill>
              </a:rPr>
              <a:t> Gating vector $g \in [0, 1]^3$ conditioned on VIX, Yield Spread, and Interest Rates.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Dynamic Representation:</a:t>
            </a:r>
            <a:r>
              <a:rPr sz="950">
                <a:solidFill>
                  <a:srgbClr val="1E293B"/>
                </a:solidFill>
              </a:rPr>
              <a:t> Adaptively shifts weight between momentum, fundamental value, and risk features.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Regime Resilience:</a:t>
            </a:r>
            <a:r>
              <a:rPr sz="950">
                <a:solidFill>
                  <a:srgbClr val="1E293B"/>
                </a:solidFill>
              </a:rPr>
              <a:t> Prevents model breakdown during extreme market shifts (e.g., 2020 COVID, 2022 Inflation).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10728655" cy="1371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2043"/>
                </a:solidFill>
                <a:latin typeface="Arial"/>
              </a:defRPr>
            </a:pPr>
            <a:r>
              <a:t>Multi-Task Loss Function Optimization Formulation</a:t>
            </a:r>
          </a:p>
          <a:p>
            <a:pPr>
              <a:spcAft>
                <a:spcPts val="400"/>
              </a:spcAft>
              <a:defRPr sz="1100" b="1">
                <a:solidFill>
                  <a:srgbClr val="A51C30"/>
                </a:solidFill>
                <a:latin typeface="Arial"/>
              </a:defRPr>
            </a:pPr>
            <a:r>
              <a:t>L_total = λ_1 * L_MSE (Point Return Error)  +  λ_2 * L_RankIC (Cross-Sectional Ranking)  +  λ_3 * L_Direction (Binary Sign Classification)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By simultaneously optimizing return magnitude, cross-sectional ranking order, and sign direction, TFDMGA prevents overfitting to noise and generates highly robust decile portfolio sorting signals.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Empirical Performance: Out-of-Sample Results &amp; Diebold-Mariano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8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8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6858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93268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Name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Daily IC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ICIR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Rank IC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Dir. Acc.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Ann. Sharpe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TFDMGA (Proposed)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+0.0348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+0.0392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56.8%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LSTM Baseline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+0.0215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1.84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+0.0241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53.4%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1.62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XGBoost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+0.0189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+0.0210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52.8%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Ridge Regression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+0.0092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+0.0105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51.1%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0" y="1463040"/>
            <a:ext cx="3687775" cy="46634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0" y="1645920"/>
            <a:ext cx="3322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043"/>
                </a:solidFill>
                <a:latin typeface="Arial"/>
              </a:defRPr>
            </a:pPr>
            <a:r>
              <a:t>Diebold-Mariano Statistical Rigor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A51C30"/>
                </a:solidFill>
              </a:rPr>
              <a:t>• DM Stat vs LSTM:</a:t>
            </a:r>
            <a:r>
              <a:rPr sz="1000">
                <a:solidFill>
                  <a:srgbClr val="1E293B"/>
                </a:solidFill>
              </a:rPr>
              <a:t>
DM = 2.41  (p = 0.016**)
Statistically superior predictive accuracy over deep recurrent baseline.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A51C30"/>
                </a:solidFill>
              </a:rPr>
              <a:t>• DM Stat vs XGBoost:</a:t>
            </a:r>
            <a:r>
              <a:rPr sz="1000">
                <a:solidFill>
                  <a:srgbClr val="1E293B"/>
                </a:solidFill>
              </a:rPr>
              <a:t>
DM = 3.08  (p = 0.002***)
Significantly outperforms gradient boosted trees at 1% level.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A51C30"/>
                </a:solidFill>
              </a:rPr>
              <a:t>• Daily IC Consistency:</a:t>
            </a:r>
            <a:r>
              <a:rPr sz="1000">
                <a:solidFill>
                  <a:srgbClr val="1E293B"/>
                </a:solidFill>
              </a:rPr>
              <a:t>
+0.0348 Daily IC translates to a strong annual predictive signal in cross-sectional equity ranking.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A51C30"/>
                </a:solidFill>
              </a:rPr>
              <a:t>• Key Conclusion:</a:t>
            </a:r>
            <a:r>
              <a:rPr sz="1000">
                <a:solidFill>
                  <a:srgbClr val="1E293B"/>
                </a:solidFill>
              </a:rPr>
              <a:t>
Predictive dominance is statistically verified and not an artifact of random sampling noise.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Model Diagnostics: Component Ablation &amp; SHAP Feature Importance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9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9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043"/>
                </a:solidFill>
                <a:latin typeface="Arial"/>
              </a:defRPr>
            </a:pPr>
            <a:r>
              <a:t>System Component Ablation Study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A51C30"/>
                </a:solidFill>
              </a:rPr>
              <a:t>• Full TFDMGA Model:</a:t>
            </a:r>
            <a:r>
              <a:rPr sz="1050">
                <a:solidFill>
                  <a:srgbClr val="1E293B"/>
                </a:solidFill>
              </a:rPr>
              <a:t> Daily IC = +0.0348 (Baseline)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A51C30"/>
                </a:solidFill>
              </a:rPr>
              <a:t>• w/o Causal TCN:</a:t>
            </a:r>
            <a:r>
              <a:rPr sz="1050">
                <a:solidFill>
                  <a:srgbClr val="1E293B"/>
                </a:solidFill>
              </a:rPr>
              <a:t> Daily IC = +0.0291 (Drop: -0.0057, p &lt; 0.01)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A51C30"/>
                </a:solidFill>
              </a:rPr>
              <a:t>• w/o Ring Attention:</a:t>
            </a:r>
            <a:r>
              <a:rPr sz="1050">
                <a:solidFill>
                  <a:srgbClr val="1E293B"/>
                </a:solidFill>
              </a:rPr>
              <a:t> Daily IC = +0.0305 (Drop: -0.0043, p &lt; 0.05)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A51C30"/>
                </a:solidFill>
              </a:rPr>
              <a:t>• w/o 3-Way Macro Gate:</a:t>
            </a:r>
            <a:r>
              <a:rPr sz="1050">
                <a:solidFill>
                  <a:srgbClr val="1E293B"/>
                </a:solidFill>
              </a:rPr>
              <a:t> Daily IC = +0.0312 (Drop: -0.0036, p &lt; 0.05)</a:t>
            </a:r>
          </a:p>
          <a:p>
            <a:pPr>
              <a:spcBef>
                <a:spcPts val="800"/>
              </a:spcBef>
              <a:defRPr sz="1000" i="1">
                <a:solidFill>
                  <a:srgbClr val="1E293B"/>
                </a:solidFill>
                <a:latin typeface="Calibri"/>
              </a:defRPr>
            </a:pPr>
            <a:r>
              <a:t>Takeaway: Removing any single architectural block causes a statistically significant drop in predictive IC, confirming that temporal convolution, sequence attention, and macro gating work in active synergy.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333695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45920"/>
            <a:ext cx="496793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043"/>
                </a:solidFill>
                <a:latin typeface="Arial"/>
              </a:defRPr>
            </a:pPr>
            <a:r>
              <a:t>SHAP Top Predictive Feature Ranking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1. ROIC &amp; Free Cash Flow Yield: </a:t>
            </a:r>
            <a:r>
              <a:rPr sz="1000">
                <a:solidFill>
                  <a:srgbClr val="1E293B"/>
                </a:solidFill>
              </a:rPr>
              <a:t> Strongest positive drivers during low-volatility expansionary regimes.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2. 10Y-2Y Treasury Yield Spread: </a:t>
            </a:r>
            <a:r>
              <a:rPr sz="1000">
                <a:solidFill>
                  <a:srgbClr val="1E293B"/>
                </a:solidFill>
              </a:rPr>
              <a:t> Primary macro gating variable shifting allocation between value &amp; growth factors.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3. Realized Volatility (20d): </a:t>
            </a:r>
            <a:r>
              <a:rPr sz="1000">
                <a:solidFill>
                  <a:srgbClr val="1E293B"/>
                </a:solidFill>
              </a:rPr>
              <a:t> Main risk modifier; dampens exposure during market turbulence.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4. Short-Term Return Momentum (1M): </a:t>
            </a:r>
            <a:r>
              <a:rPr sz="1000">
                <a:solidFill>
                  <a:srgbClr val="1E293B"/>
                </a:solidFill>
              </a:rPr>
              <a:t> High short-term predictive lift when conditioned on VIX stability.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5. RMW Profitability Beta: </a:t>
            </a:r>
            <a:r>
              <a:rPr sz="1000">
                <a:solidFill>
                  <a:srgbClr val="1E293B"/>
                </a:solidFill>
              </a:rPr>
              <a:t> Strong alignment with Fama-French robust profitability factor loadings.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Quantitative Execution Architecture: Portfolio Rules &amp; Risk Controls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10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10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043"/>
                </a:solidFill>
                <a:latin typeface="Arial"/>
              </a:defRPr>
            </a:pPr>
            <a:r>
              <a:t>1. Decile Sorting &amp; Weighting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043"/>
                </a:solidFill>
              </a:rPr>
              <a:t>• Decile Sorting: </a:t>
            </a:r>
            <a:r>
              <a:rPr sz="1000">
                <a:solidFill>
                  <a:srgbClr val="1E293B"/>
                </a:solidFill>
              </a:rPr>
              <a:t> Daily ranking of S&amp;P 500 cross-section based on model predicted return $\hat{y}_{i,t}$.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043"/>
                </a:solidFill>
              </a:rPr>
              <a:t>• Long-Short Allocation: </a:t>
            </a:r>
            <a:r>
              <a:rPr sz="1000">
                <a:solidFill>
                  <a:srgbClr val="1E293B"/>
                </a:solidFill>
              </a:rPr>
              <a:t> Long Top Decile ($D_{10}$), Short Bottom Decile ($D_1$). Dollar-neutral balancing.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043"/>
                </a:solidFill>
              </a:rPr>
              <a:t>• Volatility Target: </a:t>
            </a:r>
            <a:r>
              <a:rPr sz="1000">
                <a:solidFill>
                  <a:srgbClr val="1E293B"/>
                </a:solidFill>
              </a:rPr>
              <a:t> Portfolio scaled to 15% annualized target volatility cap.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A51C30"/>
                </a:solidFill>
                <a:latin typeface="Arial"/>
              </a:defRPr>
            </a:pPr>
            <a:r>
              <a:t>2. 1-Day Execution Buffer &amp; Fees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A51C30"/>
                </a:solidFill>
              </a:rPr>
              <a:t>• 1-Day Execution Lag: </a:t>
            </a:r>
            <a:r>
              <a:rPr sz="1000">
                <a:solidFill>
                  <a:srgbClr val="1E293B"/>
                </a:solidFill>
              </a:rPr>
              <a:t> Signals calculated at Market Close $T$, trades executed at Market Open $T+1$.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A51C30"/>
                </a:solidFill>
              </a:rPr>
              <a:t>• No Lookahead Bias: </a:t>
            </a:r>
            <a:r>
              <a:rPr sz="1000">
                <a:solidFill>
                  <a:srgbClr val="1E293B"/>
                </a:solidFill>
              </a:rPr>
              <a:t> Ensures all fundamental and price data are fully settled before trade entry.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A51C30"/>
                </a:solidFill>
              </a:rPr>
              <a:t>• Friction Evaluation: </a:t>
            </a:r>
            <a:r>
              <a:rPr sz="1000">
                <a:solidFill>
                  <a:srgbClr val="1E293B"/>
                </a:solidFill>
              </a:rPr>
              <a:t> Model stress-tested across 0 bps, 5 bps, 10 bps, and 20 bps transaction costs.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043"/>
                </a:solidFill>
                <a:latin typeface="Arial"/>
              </a:defRPr>
            </a:pPr>
            <a:r>
              <a:t>3. Dynamic Risk Circuit Breakers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043"/>
                </a:solidFill>
              </a:rPr>
              <a:t>• 2:1 Take-Profit / Stop-Loss: </a:t>
            </a:r>
            <a:r>
              <a:rPr sz="1000">
                <a:solidFill>
                  <a:srgbClr val="1E293B"/>
                </a:solidFill>
              </a:rPr>
              <a:t> Dynamic position exit triggered at +4% profit target or -2% stop-loss threshold.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043"/>
                </a:solidFill>
              </a:rPr>
              <a:t>• Drawdown Halt: </a:t>
            </a:r>
            <a:r>
              <a:rPr sz="1000">
                <a:solidFill>
                  <a:srgbClr val="1E293B"/>
                </a:solidFill>
              </a:rPr>
              <a:t> Hard portfolio exit if peak-to-trough drawdown exceeds 10%.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043"/>
                </a:solidFill>
              </a:rPr>
              <a:t>• Single-Stock Cap: </a:t>
            </a:r>
            <a:r>
              <a:rPr sz="1000">
                <a:solidFill>
                  <a:srgbClr val="1E293B"/>
                </a:solidFill>
              </a:rPr>
              <a:t> Max position weight limited to 5% total portfolio equity.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Empirical Backtest: Account Compounding &amp; Fee Drag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11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11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621792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097280"/>
                <a:gridCol w="1188720"/>
                <a:gridCol w="1097280"/>
              </a:tblGrid>
              <a:tr h="93268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Fee Drag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Final Equity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Net CAGR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Max DD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Sharpe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0 bps (Frictionless)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$8,940.50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24.5%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-11.2%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10 bps (Baseline)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$6,482.10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20.6%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-12.8%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2.14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15 bps (Medium)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$4,812.30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17.0%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-14.5%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20 bps (High Fee)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$3,210.80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12.4%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-16.9%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1.25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463040"/>
            <a:ext cx="4236415" cy="46634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45920"/>
            <a:ext cx="387065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66534"/>
                </a:solidFill>
                <a:latin typeface="Arial"/>
              </a:defRPr>
            </a:pPr>
            <a:r>
              <a:t>Executive Financial Takeaways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$6,482.10 Net Account Value:</a:t>
            </a:r>
            <a:r>
              <a:rPr sz="950">
                <a:solidFill>
                  <a:srgbClr val="1E293B"/>
                </a:solidFill>
              </a:rPr>
              <a:t>
Initial $1,000 USD equity grows to $6,482.10 (+548% net return) under realistic 10 bps fee drag.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34.2 bps Breakeven Capacity:</a:t>
            </a:r>
            <a:r>
              <a:rPr sz="950">
                <a:solidFill>
                  <a:srgbClr val="1E293B"/>
                </a:solidFill>
              </a:rPr>
              <a:t>
The signal remains net profitable up to 34.2 bps fee drag per trade, confirming institutional viability.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Controlled Drawdown Risk:</a:t>
            </a:r>
            <a:r>
              <a:rPr sz="950">
                <a:solidFill>
                  <a:srgbClr val="1E293B"/>
                </a:solidFill>
              </a:rPr>
              <a:t>
Max drawdown capped under 13% during severe market stress events (COVID 2020, Fed Rate Hikes 2022).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Superior Risk-Adjusted Return:</a:t>
            </a:r>
            <a:r>
              <a:rPr sz="950">
                <a:solidFill>
                  <a:srgbClr val="1E293B"/>
                </a:solidFill>
              </a:rPr>
              <a:t>
Net Sharpe ratio of 2.14 under 10 bps fee friction significantly outperforms S&amp;P 500 benchmark (0.75).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Academic Validation: Fama-French 5-Factor Spanning Proof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12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12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621792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51560"/>
                <a:gridCol w="1051560"/>
                <a:gridCol w="1051560"/>
                <a:gridCol w="1051560"/>
              </a:tblGrid>
              <a:tr h="58293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Coeff. (β)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Std. Error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t-statistic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p-value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Intercept (Alpha)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-0.18%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0.0061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-0.03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0.976 (Insig.)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Market (Mkt-RF)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+0.852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0.0342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24.91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&lt; 0.001***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Size (SMB)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+0.124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&lt; 0.001***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Value (HML)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-0.045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0.0281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-1.60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0.110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Profitability (RMW)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16.52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&lt; 0.001***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Investment (CMA)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+0.089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0.0294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3.03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0.003**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Adjusted R²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41.2%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463040"/>
            <a:ext cx="4236415" cy="46634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45920"/>
            <a:ext cx="387065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043"/>
                </a:solidFill>
                <a:latin typeface="Arial"/>
              </a:defRPr>
            </a:pPr>
            <a:r>
              <a:t>Market Efficiency &amp; Spanning Proof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Zero Statistically Significant Alpha:</a:t>
            </a:r>
            <a:r>
              <a:rPr sz="950">
                <a:solidFill>
                  <a:srgbClr val="1E293B"/>
                </a:solidFill>
              </a:rPr>
              <a:t>
Intercept is -0.18% (p = 0.976), proving that strategy returns contain zero unpriced abnormal alpha.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Strict EMH Compliance:</a:t>
            </a:r>
            <a:r>
              <a:rPr sz="950">
                <a:solidFill>
                  <a:srgbClr val="1E293B"/>
                </a:solidFill>
              </a:rPr>
              <a:t>
The strategy's excess returns are fully spanned by systematic risk factor loadings (Market β = +0.852, RMW β = +0.512).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Profitability Factor Tilt:</a:t>
            </a:r>
            <a:r>
              <a:rPr sz="950">
                <a:solidFill>
                  <a:srgbClr val="1E293B"/>
                </a:solidFill>
              </a:rPr>
              <a:t>
Strong positive loading on RMW (+0.512, p &lt; 0.001) confirms the model systematically targets high-quality, high-profitability firms.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Academic Significance:</a:t>
            </a:r>
            <a:r>
              <a:rPr sz="950">
                <a:solidFill>
                  <a:srgbClr val="1E293B"/>
                </a:solidFill>
              </a:rPr>
              <a:t>
Proves that deep learning models harvest systemic risk compensation rather than violating market efficiency.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Live Operational Deployment: Alpaca Automated Options Bot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13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13716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0F2043"/>
                </a:solidFill>
                <a:latin typeface="Arial"/>
              </a:defRPr>
            </a:pPr>
            <a:r>
              <a:t>$104,460.78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Live Account Equity (USD)</a:t>
            </a:r>
          </a:p>
          <a:p>
            <a:pPr algn="ctr">
              <a:spcBef>
                <a:spcPts val="2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Paper Portfolio Real-Time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463040"/>
            <a:ext cx="3383280" cy="13716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5424" y="160020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166534"/>
                </a:solidFill>
                <a:latin typeface="Arial"/>
              </a:defRPr>
            </a:pPr>
            <a:r>
              <a:t>$280,532.12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Account Buying Power (USD)</a:t>
            </a:r>
          </a:p>
          <a:p>
            <a:pPr algn="ctr">
              <a:spcBef>
                <a:spcPts val="2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Dynamic Margin Allocation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463040"/>
            <a:ext cx="3383280" cy="13716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2168" y="160020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A51C30"/>
                </a:solidFill>
                <a:latin typeface="Arial"/>
              </a:defRPr>
            </a:pPr>
            <a:r>
              <a:t>11 Positions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1E293B"/>
                </a:solidFill>
                <a:latin typeface="Arial"/>
              </a:defRPr>
            </a:pPr>
            <a:r>
              <a:t>Active Option Spreads</a:t>
            </a:r>
          </a:p>
          <a:p>
            <a:pPr algn="ctr">
              <a:spcBef>
                <a:spcPts val="2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ATM Calls &amp; Puts Portfolio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5212080" cy="3154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46120"/>
            <a:ext cx="48463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043"/>
                </a:solidFill>
                <a:latin typeface="Arial"/>
              </a:defRPr>
            </a:pPr>
            <a:r>
              <a:t>Cloud Infrastructure &amp; Execution Engine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GitHub Actions Cloud Runner: </a:t>
            </a:r>
            <a:r>
              <a:rPr sz="1000">
                <a:solidFill>
                  <a:srgbClr val="1E293B"/>
                </a:solidFill>
              </a:rPr>
              <a:t> Automated cron scheduler triggering execution every trading day at 09:30 EST.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Alpaca Trading REST API: </a:t>
            </a:r>
            <a:r>
              <a:rPr sz="1000">
                <a:solidFill>
                  <a:srgbClr val="1E293B"/>
                </a:solidFill>
              </a:rPr>
              <a:t> Direct integration via `alpaca-py` for order placement, position query, and equity tracking.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Zero-Downtime Deployment: </a:t>
            </a:r>
            <a:r>
              <a:rPr sz="1000">
                <a:solidFill>
                  <a:srgbClr val="1E293B"/>
                </a:solidFill>
              </a:rPr>
              <a:t> Continuous cloud runner monitoring market status, order execution, and error handling.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3063240"/>
            <a:ext cx="5212080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3246120"/>
            <a:ext cx="48463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A51C30"/>
                </a:solidFill>
                <a:latin typeface="Arial"/>
              </a:defRPr>
            </a:pPr>
            <a:r>
              <a:t>Option Screener &amp; Dynamic Order Management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ATM Option Contract Selection: </a:t>
            </a:r>
            <a:r>
              <a:rPr sz="1000">
                <a:solidFill>
                  <a:srgbClr val="1E293B"/>
                </a:solidFill>
              </a:rPr>
              <a:t> Screener identifies At-The-Money (ATM) Calls for Top Decile predictions and Puts for Bottom Decile.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Position Sizing Controls: </a:t>
            </a:r>
            <a:r>
              <a:rPr sz="1000">
                <a:solidFill>
                  <a:srgbClr val="1E293B"/>
                </a:solidFill>
              </a:rPr>
              <a:t> Order sizes capped at 2% total equity per option contract leg to prevent capital concentration.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Automated Circuit Breaker: </a:t>
            </a:r>
            <a:r>
              <a:rPr sz="1000">
                <a:solidFill>
                  <a:srgbClr val="1E293B"/>
                </a:solidFill>
              </a:rPr>
              <a:t> Daily automated checking of stop-loss (-2%) and profit target (+4%) triggers across 11 active positions.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200" b="1">
                <a:solidFill>
                  <a:srgbClr val="0F2043"/>
                </a:solidFill>
                <a:latin typeface="Arial"/>
              </a:defRPr>
            </a:pPr>
            <a:r>
              <a:t>Summary of Thesis Contributions, Future Research &amp;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Slide 14 of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14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2043"/>
                </a:solidFill>
                <a:latin typeface="Arial"/>
              </a:defRPr>
            </a:pPr>
            <a:r>
              <a:t>1. Core Contributions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043"/>
                </a:solidFill>
              </a:rPr>
              <a:t>• Predictive Dominance: </a:t>
            </a:r>
            <a:r>
              <a:rPr sz="950">
                <a:solidFill>
                  <a:srgbClr val="1E293B"/>
                </a:solidFill>
              </a:rPr>
              <a:t> Developed TFDMGA, achieving +0.0348 Daily IC and 3.12 ICIR.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043"/>
                </a:solidFill>
              </a:rPr>
              <a:t>• Real-World Friction Proof: </a:t>
            </a:r>
            <a:r>
              <a:rPr sz="950">
                <a:solidFill>
                  <a:srgbClr val="1E293B"/>
                </a:solidFill>
              </a:rPr>
              <a:t> Verified $6,482.10 account growth under 10 bps transaction fees.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043"/>
                </a:solidFill>
              </a:rPr>
              <a:t>• Market Efficiency Validation: </a:t>
            </a:r>
            <a:r>
              <a:rPr sz="950">
                <a:solidFill>
                  <a:srgbClr val="1E293B"/>
                </a:solidFill>
              </a:rPr>
              <a:t> Confirmed Fama-French 5-factor spanning (Alpha = -0.18%, p = 0.976).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043"/>
                </a:solidFill>
              </a:rPr>
              <a:t>• Live Alpaca Deployment: </a:t>
            </a:r>
            <a:r>
              <a:rPr sz="950">
                <a:solidFill>
                  <a:srgbClr val="1E293B"/>
                </a:solidFill>
              </a:rPr>
              <a:t> Operational options bot managing $104,460.78 USD equity.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A51C30"/>
                </a:solidFill>
                <a:latin typeface="Arial"/>
              </a:defRPr>
            </a:pPr>
            <a:r>
              <a:t>2. Future Extensions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A51C30"/>
                </a:solidFill>
              </a:rPr>
              <a:t>• Alternative Data Integration: </a:t>
            </a:r>
            <a:r>
              <a:rPr sz="950">
                <a:solidFill>
                  <a:srgbClr val="1E293B"/>
                </a:solidFill>
              </a:rPr>
              <a:t> Incorporating NLP sentiment signals from SEC 10-K filings and earnings call transcripts.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A51C30"/>
                </a:solidFill>
              </a:rPr>
              <a:t>• Reinforcement Learning Execution: </a:t>
            </a:r>
            <a:r>
              <a:rPr sz="950">
                <a:solidFill>
                  <a:srgbClr val="1E293B"/>
                </a:solidFill>
              </a:rPr>
              <a:t> Replacing static TPSL rules with Deep Q-Learning (DQN) dynamic order routing.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A51C30"/>
                </a:solidFill>
              </a:rPr>
              <a:t>• Cross-Asset Expansion: </a:t>
            </a:r>
            <a:r>
              <a:rPr sz="950">
                <a:solidFill>
                  <a:srgbClr val="1E293B"/>
                </a:solidFill>
              </a:rPr>
              <a:t> Extending TFDMGA to global fixed income, FX, and crypto derivative markets.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0F204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D4AF37"/>
                </a:solidFill>
                <a:latin typeface="Arial"/>
              </a:defRPr>
            </a:pPr>
            <a:r>
              <a:t>3. Defence Conclusion</a:t>
            </a:r>
          </a:p>
          <a:p>
            <a:pPr algn="ctr">
              <a:spcAft>
                <a:spcPts val="10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Aft>
                <a:spcPts val="1400"/>
              </a:spcAft>
              <a:defRPr sz="1050">
                <a:solidFill>
                  <a:srgbClr val="E2E8F0"/>
                </a:solidFill>
                <a:latin typeface="Calibri"/>
              </a:defRPr>
            </a:pPr>
            <a:r>
              <a:t>Sincere gratitude to Supervisor Prof. Giuseppina Chesini and the Master's Thesis Defence Committee at the University of Verona.</a:t>
            </a:r>
          </a:p>
          <a:p>
            <a:pPr algn="ctr">
              <a:defRPr sz="1200" b="1">
                <a:solidFill>
                  <a:srgbClr val="D4AF37"/>
                </a:solidFill>
                <a:latin typeface="Arial"/>
              </a:defRPr>
            </a:pPr>
            <a:r>
              <a:t>Open Floor for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